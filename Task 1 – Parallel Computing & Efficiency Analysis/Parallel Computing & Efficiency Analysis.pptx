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9753600" cy="7315200"/>
  <p:notesSz cx="6858000" cy="9144000"/>
  <p:embeddedFontLst>
    <p:embeddedFont>
      <p:font typeface="HK Grotesk Bold" charset="1" panose="00000800000000000000"/>
      <p:regular r:id="rId16"/>
    </p:embeddedFont>
    <p:embeddedFont>
      <p:font typeface="Assistant" charset="1" panose="00000500000000000000"/>
      <p:regular r:id="rId17"/>
    </p:embeddedFont>
    <p:embeddedFont>
      <p:font typeface="Assistant Bold" charset="1" panose="00000800000000000000"/>
      <p:regular r:id="rId18"/>
    </p:embeddedFont>
    <p:embeddedFont>
      <p:font typeface="Halant Medium" charset="1" panose="00000600000000000000"/>
      <p:regular r:id="rId19"/>
    </p:embeddedFont>
    <p:embeddedFont>
      <p:font typeface="Sniglet" charset="1" panose="0407050503010002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86396" y="3461062"/>
            <a:ext cx="5197850" cy="3122618"/>
          </a:xfrm>
          <a:prstGeom prst="rect">
            <a:avLst/>
          </a:prstGeom>
        </p:spPr>
        <p:txBody>
          <a:bodyPr anchor="t" rtlCol="false" tIns="0" lIns="0" bIns="0" rIns="0">
            <a:spAutoFit/>
          </a:bodyPr>
          <a:lstStyle/>
          <a:p>
            <a:pPr algn="l">
              <a:lnSpc>
                <a:spcPts val="6168"/>
              </a:lnSpc>
            </a:pPr>
            <a:r>
              <a:rPr lang="en-US" sz="5227" b="true">
                <a:solidFill>
                  <a:srgbClr val="000000"/>
                </a:solidFill>
                <a:latin typeface="HK Grotesk Bold"/>
                <a:ea typeface="HK Grotesk Bold"/>
                <a:cs typeface="HK Grotesk Bold"/>
                <a:sym typeface="HK Grotesk Bold"/>
              </a:rPr>
              <a:t> Parallel Computing &amp; Efficiency Analysis</a:t>
            </a:r>
          </a:p>
        </p:txBody>
      </p:sp>
      <p:sp>
        <p:nvSpPr>
          <p:cNvPr name="Freeform 3" id="3"/>
          <p:cNvSpPr/>
          <p:nvPr/>
        </p:nvSpPr>
        <p:spPr>
          <a:xfrm flipH="false" flipV="false" rot="-5550229">
            <a:off x="4050848" y="-1127659"/>
            <a:ext cx="5867962" cy="5222486"/>
          </a:xfrm>
          <a:custGeom>
            <a:avLst/>
            <a:gdLst/>
            <a:ahLst/>
            <a:cxnLst/>
            <a:rect r="r" b="b" t="t" l="l"/>
            <a:pathLst>
              <a:path h="5222486" w="5867962">
                <a:moveTo>
                  <a:pt x="0" y="0"/>
                </a:moveTo>
                <a:lnTo>
                  <a:pt x="5867963" y="0"/>
                </a:lnTo>
                <a:lnTo>
                  <a:pt x="5867963" y="5222487"/>
                </a:lnTo>
                <a:lnTo>
                  <a:pt x="0" y="5222487"/>
                </a:lnTo>
                <a:lnTo>
                  <a:pt x="0" y="0"/>
                </a:lnTo>
                <a:close/>
              </a:path>
            </a:pathLst>
          </a:custGeom>
          <a:blipFill>
            <a:blip r:embed="rId2"/>
            <a:stretch>
              <a:fillRect l="0" t="0" r="0" b="0"/>
            </a:stretch>
          </a:blipFill>
        </p:spPr>
      </p:sp>
      <p:sp>
        <p:nvSpPr>
          <p:cNvPr name="Freeform 4" id="4"/>
          <p:cNvSpPr/>
          <p:nvPr/>
        </p:nvSpPr>
        <p:spPr>
          <a:xfrm flipH="false" flipV="false" rot="-5017281">
            <a:off x="3529970" y="912669"/>
            <a:ext cx="1170984" cy="1109507"/>
          </a:xfrm>
          <a:custGeom>
            <a:avLst/>
            <a:gdLst/>
            <a:ahLst/>
            <a:cxnLst/>
            <a:rect r="r" b="b" t="t" l="l"/>
            <a:pathLst>
              <a:path h="1109507" w="1170984">
                <a:moveTo>
                  <a:pt x="0" y="0"/>
                </a:moveTo>
                <a:lnTo>
                  <a:pt x="1170984" y="0"/>
                </a:lnTo>
                <a:lnTo>
                  <a:pt x="1170984" y="1109508"/>
                </a:lnTo>
                <a:lnTo>
                  <a:pt x="0" y="1109508"/>
                </a:lnTo>
                <a:lnTo>
                  <a:pt x="0" y="0"/>
                </a:lnTo>
                <a:close/>
              </a:path>
            </a:pathLst>
          </a:custGeom>
          <a:blipFill>
            <a:blip r:embed="rId3"/>
            <a:stretch>
              <a:fillRect l="0" t="0" r="0" b="0"/>
            </a:stretch>
          </a:blipFill>
        </p:spPr>
      </p:sp>
      <p:sp>
        <p:nvSpPr>
          <p:cNvPr name="Freeform 5" id="5"/>
          <p:cNvSpPr/>
          <p:nvPr/>
        </p:nvSpPr>
        <p:spPr>
          <a:xfrm flipH="false" flipV="false" rot="-10567437">
            <a:off x="8110392" y="5055177"/>
            <a:ext cx="2588757" cy="2475499"/>
          </a:xfrm>
          <a:custGeom>
            <a:avLst/>
            <a:gdLst/>
            <a:ahLst/>
            <a:cxnLst/>
            <a:rect r="r" b="b" t="t" l="l"/>
            <a:pathLst>
              <a:path h="2475499" w="2588757">
                <a:moveTo>
                  <a:pt x="0" y="0"/>
                </a:moveTo>
                <a:lnTo>
                  <a:pt x="2588756" y="0"/>
                </a:lnTo>
                <a:lnTo>
                  <a:pt x="2588756" y="2475498"/>
                </a:lnTo>
                <a:lnTo>
                  <a:pt x="0" y="2475498"/>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4D1354"/>
        </a:solidFill>
      </p:bgPr>
    </p:bg>
    <p:spTree>
      <p:nvGrpSpPr>
        <p:cNvPr id="1" name=""/>
        <p:cNvGrpSpPr/>
        <p:nvPr/>
      </p:nvGrpSpPr>
      <p:grpSpPr>
        <a:xfrm>
          <a:off x="0" y="0"/>
          <a:ext cx="0" cy="0"/>
          <a:chOff x="0" y="0"/>
          <a:chExt cx="0" cy="0"/>
        </a:xfrm>
      </p:grpSpPr>
      <p:sp>
        <p:nvSpPr>
          <p:cNvPr name="Freeform 2" id="2"/>
          <p:cNvSpPr/>
          <p:nvPr/>
        </p:nvSpPr>
        <p:spPr>
          <a:xfrm flipH="false" flipV="false" rot="498132">
            <a:off x="7227392" y="3990980"/>
            <a:ext cx="3992736" cy="4413846"/>
          </a:xfrm>
          <a:custGeom>
            <a:avLst/>
            <a:gdLst/>
            <a:ahLst/>
            <a:cxnLst/>
            <a:rect r="r" b="b" t="t" l="l"/>
            <a:pathLst>
              <a:path h="4413846" w="3992736">
                <a:moveTo>
                  <a:pt x="0" y="0"/>
                </a:moveTo>
                <a:lnTo>
                  <a:pt x="3992736" y="0"/>
                </a:lnTo>
                <a:lnTo>
                  <a:pt x="3992736" y="4413846"/>
                </a:lnTo>
                <a:lnTo>
                  <a:pt x="0" y="4413846"/>
                </a:lnTo>
                <a:lnTo>
                  <a:pt x="0" y="0"/>
                </a:lnTo>
                <a:close/>
              </a:path>
            </a:pathLst>
          </a:custGeom>
          <a:blipFill>
            <a:blip r:embed="rId2"/>
            <a:stretch>
              <a:fillRect l="0" t="0" r="-381" b="-1174"/>
            </a:stretch>
          </a:blipFill>
        </p:spPr>
      </p:sp>
      <p:sp>
        <p:nvSpPr>
          <p:cNvPr name="Freeform 3" id="3"/>
          <p:cNvSpPr/>
          <p:nvPr/>
        </p:nvSpPr>
        <p:spPr>
          <a:xfrm flipH="false" flipV="false" rot="-2715964">
            <a:off x="5681965" y="5440214"/>
            <a:ext cx="983734" cy="932088"/>
          </a:xfrm>
          <a:custGeom>
            <a:avLst/>
            <a:gdLst/>
            <a:ahLst/>
            <a:cxnLst/>
            <a:rect r="r" b="b" t="t" l="l"/>
            <a:pathLst>
              <a:path h="932088" w="983734">
                <a:moveTo>
                  <a:pt x="0" y="0"/>
                </a:moveTo>
                <a:lnTo>
                  <a:pt x="983734" y="0"/>
                </a:lnTo>
                <a:lnTo>
                  <a:pt x="983734" y="932087"/>
                </a:lnTo>
                <a:lnTo>
                  <a:pt x="0" y="932087"/>
                </a:lnTo>
                <a:lnTo>
                  <a:pt x="0" y="0"/>
                </a:lnTo>
                <a:close/>
              </a:path>
            </a:pathLst>
          </a:custGeom>
          <a:blipFill>
            <a:blip r:embed="rId3"/>
            <a:stretch>
              <a:fillRect l="0" t="0" r="0" b="0"/>
            </a:stretch>
          </a:blipFill>
        </p:spPr>
      </p:sp>
      <p:sp>
        <p:nvSpPr>
          <p:cNvPr name="Freeform 4" id="4"/>
          <p:cNvSpPr/>
          <p:nvPr/>
        </p:nvSpPr>
        <p:spPr>
          <a:xfrm flipH="false" flipV="false" rot="-3212463">
            <a:off x="5921901" y="-1233423"/>
            <a:ext cx="3394439" cy="3929885"/>
          </a:xfrm>
          <a:custGeom>
            <a:avLst/>
            <a:gdLst/>
            <a:ahLst/>
            <a:cxnLst/>
            <a:rect r="r" b="b" t="t" l="l"/>
            <a:pathLst>
              <a:path h="3929885" w="3394439">
                <a:moveTo>
                  <a:pt x="0" y="0"/>
                </a:moveTo>
                <a:lnTo>
                  <a:pt x="3394439" y="0"/>
                </a:lnTo>
                <a:lnTo>
                  <a:pt x="3394439" y="3929886"/>
                </a:lnTo>
                <a:lnTo>
                  <a:pt x="0" y="3929886"/>
                </a:lnTo>
                <a:lnTo>
                  <a:pt x="0" y="0"/>
                </a:lnTo>
                <a:close/>
              </a:path>
            </a:pathLst>
          </a:custGeom>
          <a:blipFill>
            <a:blip r:embed="rId4"/>
            <a:stretch>
              <a:fillRect l="0" t="0" r="0" b="0"/>
            </a:stretch>
          </a:blipFill>
        </p:spPr>
      </p:sp>
      <p:grpSp>
        <p:nvGrpSpPr>
          <p:cNvPr name="Group 5" id="5"/>
          <p:cNvGrpSpPr/>
          <p:nvPr/>
        </p:nvGrpSpPr>
        <p:grpSpPr>
          <a:xfrm rot="0">
            <a:off x="731520" y="731520"/>
            <a:ext cx="4765059" cy="2294818"/>
            <a:chOff x="0" y="0"/>
            <a:chExt cx="6353412" cy="3059758"/>
          </a:xfrm>
        </p:grpSpPr>
        <p:sp>
          <p:nvSpPr>
            <p:cNvPr name="TextBox 6" id="6"/>
            <p:cNvSpPr txBox="true"/>
            <p:nvPr/>
          </p:nvSpPr>
          <p:spPr>
            <a:xfrm rot="0">
              <a:off x="0" y="1330406"/>
              <a:ext cx="6353412" cy="1007533"/>
            </a:xfrm>
            <a:prstGeom prst="rect">
              <a:avLst/>
            </a:prstGeom>
          </p:spPr>
          <p:txBody>
            <a:bodyPr anchor="t" rtlCol="false" tIns="0" lIns="0" bIns="0" rIns="0">
              <a:spAutoFit/>
            </a:bodyPr>
            <a:lstStyle/>
            <a:p>
              <a:pPr algn="l">
                <a:lnSpc>
                  <a:spcPts val="5900"/>
                </a:lnSpc>
              </a:pPr>
              <a:r>
                <a:rPr lang="en-US" sz="5000" b="true">
                  <a:solidFill>
                    <a:srgbClr val="FFFFFF"/>
                  </a:solidFill>
                  <a:latin typeface="HK Grotesk Bold"/>
                  <a:ea typeface="HK Grotesk Bold"/>
                  <a:cs typeface="HK Grotesk Bold"/>
                  <a:sym typeface="HK Grotesk Bold"/>
                </a:rPr>
                <a:t>In</a:t>
              </a:r>
              <a:r>
                <a:rPr lang="en-US" sz="5000" b="true">
                  <a:solidFill>
                    <a:srgbClr val="FFFFFF"/>
                  </a:solidFill>
                  <a:latin typeface="HK Grotesk Bold"/>
                  <a:ea typeface="HK Grotesk Bold"/>
                  <a:cs typeface="HK Grotesk Bold"/>
                  <a:sym typeface="HK Grotesk Bold"/>
                </a:rPr>
                <a:t>troduction</a:t>
              </a:r>
            </a:p>
          </p:txBody>
        </p:sp>
        <p:sp>
          <p:nvSpPr>
            <p:cNvPr name="TextBox 7" id="7"/>
            <p:cNvSpPr txBox="true"/>
            <p:nvPr/>
          </p:nvSpPr>
          <p:spPr>
            <a:xfrm rot="0">
              <a:off x="0" y="0"/>
              <a:ext cx="1341088" cy="911024"/>
            </a:xfrm>
            <a:prstGeom prst="rect">
              <a:avLst/>
            </a:prstGeom>
          </p:spPr>
          <p:txBody>
            <a:bodyPr anchor="t" rtlCol="false" tIns="0" lIns="0" bIns="0" rIns="0">
              <a:spAutoFit/>
            </a:bodyPr>
            <a:lstStyle/>
            <a:p>
              <a:pPr algn="l" marL="0" indent="0" lvl="0">
                <a:lnSpc>
                  <a:spcPts val="5309"/>
                </a:lnSpc>
                <a:spcBef>
                  <a:spcPct val="0"/>
                </a:spcBef>
              </a:pPr>
            </a:p>
          </p:txBody>
        </p:sp>
        <p:sp>
          <p:nvSpPr>
            <p:cNvPr name="TextBox 8" id="8"/>
            <p:cNvSpPr txBox="true"/>
            <p:nvPr/>
          </p:nvSpPr>
          <p:spPr>
            <a:xfrm rot="0">
              <a:off x="0" y="2738272"/>
              <a:ext cx="6353412" cy="321486"/>
            </a:xfrm>
            <a:prstGeom prst="rect">
              <a:avLst/>
            </a:prstGeom>
          </p:spPr>
          <p:txBody>
            <a:bodyPr anchor="t" rtlCol="false" tIns="0" lIns="0" bIns="0" rIns="0">
              <a:spAutoFit/>
            </a:bodyPr>
            <a:lstStyle/>
            <a:p>
              <a:pPr algn="l">
                <a:lnSpc>
                  <a:spcPts val="2099"/>
                </a:lnSpc>
                <a:spcBef>
                  <a:spcPct val="0"/>
                </a:spcBef>
              </a:pPr>
            </a:p>
          </p:txBody>
        </p:sp>
      </p:grpSp>
      <p:sp>
        <p:nvSpPr>
          <p:cNvPr name="TextBox 9" id="9"/>
          <p:cNvSpPr txBox="true"/>
          <p:nvPr/>
        </p:nvSpPr>
        <p:spPr>
          <a:xfrm rot="0">
            <a:off x="584921" y="2534847"/>
            <a:ext cx="7034199" cy="2334368"/>
          </a:xfrm>
          <a:prstGeom prst="rect">
            <a:avLst/>
          </a:prstGeom>
        </p:spPr>
        <p:txBody>
          <a:bodyPr anchor="t" rtlCol="false" tIns="0" lIns="0" bIns="0" rIns="0">
            <a:spAutoFit/>
          </a:bodyPr>
          <a:lstStyle/>
          <a:p>
            <a:pPr algn="l">
              <a:lnSpc>
                <a:spcPts val="3109"/>
              </a:lnSpc>
              <a:spcBef>
                <a:spcPct val="0"/>
              </a:spcBef>
            </a:pPr>
          </a:p>
          <a:p>
            <a:pPr algn="l">
              <a:lnSpc>
                <a:spcPts val="3109"/>
              </a:lnSpc>
              <a:spcBef>
                <a:spcPct val="0"/>
              </a:spcBef>
            </a:pPr>
            <a:r>
              <a:rPr lang="en-US" sz="2220" spc="-22">
                <a:solidFill>
                  <a:srgbClr val="FFFFFF"/>
                </a:solidFill>
                <a:latin typeface="Assistant"/>
                <a:ea typeface="Assistant"/>
                <a:cs typeface="Assistant"/>
                <a:sym typeface="Assistant"/>
              </a:rPr>
              <a:t>High Performance Computing (HPC) uses parallel processing to solve complex problems faster. Traditional serial execution runs one instruction after another, but parallel computing divides tasks into smaller parts to run simultaneously across multiple cores, improving speed and scalability.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100510">
            <a:off x="2036260" y="-3534193"/>
            <a:ext cx="5681080" cy="5432533"/>
          </a:xfrm>
          <a:custGeom>
            <a:avLst/>
            <a:gdLst/>
            <a:ahLst/>
            <a:cxnLst/>
            <a:rect r="r" b="b" t="t" l="l"/>
            <a:pathLst>
              <a:path h="5432533" w="5681080">
                <a:moveTo>
                  <a:pt x="0" y="0"/>
                </a:moveTo>
                <a:lnTo>
                  <a:pt x="5681080" y="0"/>
                </a:lnTo>
                <a:lnTo>
                  <a:pt x="5681080" y="5432533"/>
                </a:lnTo>
                <a:lnTo>
                  <a:pt x="0" y="5432533"/>
                </a:lnTo>
                <a:lnTo>
                  <a:pt x="0" y="0"/>
                </a:lnTo>
                <a:close/>
              </a:path>
            </a:pathLst>
          </a:custGeom>
          <a:blipFill>
            <a:blip r:embed="rId2"/>
            <a:stretch>
              <a:fillRect l="0" t="0" r="0" b="0"/>
            </a:stretch>
          </a:blipFill>
        </p:spPr>
      </p:sp>
      <p:sp>
        <p:nvSpPr>
          <p:cNvPr name="Freeform 3" id="3"/>
          <p:cNvSpPr/>
          <p:nvPr/>
        </p:nvSpPr>
        <p:spPr>
          <a:xfrm flipH="false" flipV="false" rot="-2715964">
            <a:off x="7826204" y="1929915"/>
            <a:ext cx="1528874" cy="1448608"/>
          </a:xfrm>
          <a:custGeom>
            <a:avLst/>
            <a:gdLst/>
            <a:ahLst/>
            <a:cxnLst/>
            <a:rect r="r" b="b" t="t" l="l"/>
            <a:pathLst>
              <a:path h="1448608" w="1528874">
                <a:moveTo>
                  <a:pt x="0" y="0"/>
                </a:moveTo>
                <a:lnTo>
                  <a:pt x="1528874" y="0"/>
                </a:lnTo>
                <a:lnTo>
                  <a:pt x="1528874" y="1448609"/>
                </a:lnTo>
                <a:lnTo>
                  <a:pt x="0" y="1448609"/>
                </a:lnTo>
                <a:lnTo>
                  <a:pt x="0" y="0"/>
                </a:lnTo>
                <a:close/>
              </a:path>
            </a:pathLst>
          </a:custGeom>
          <a:blipFill>
            <a:blip r:embed="rId3"/>
            <a:stretch>
              <a:fillRect l="0" t="0" r="0" b="0"/>
            </a:stretch>
          </a:blipFill>
        </p:spPr>
      </p:sp>
      <p:sp>
        <p:nvSpPr>
          <p:cNvPr name="Freeform 4" id="4"/>
          <p:cNvSpPr/>
          <p:nvPr/>
        </p:nvSpPr>
        <p:spPr>
          <a:xfrm flipH="false" flipV="false" rot="-795738">
            <a:off x="8327515" y="5401871"/>
            <a:ext cx="2852170" cy="2702431"/>
          </a:xfrm>
          <a:custGeom>
            <a:avLst/>
            <a:gdLst/>
            <a:ahLst/>
            <a:cxnLst/>
            <a:rect r="r" b="b" t="t" l="l"/>
            <a:pathLst>
              <a:path h="2702431" w="2852170">
                <a:moveTo>
                  <a:pt x="0" y="0"/>
                </a:moveTo>
                <a:lnTo>
                  <a:pt x="2852170" y="0"/>
                </a:lnTo>
                <a:lnTo>
                  <a:pt x="2852170" y="2702430"/>
                </a:lnTo>
                <a:lnTo>
                  <a:pt x="0" y="2702430"/>
                </a:lnTo>
                <a:lnTo>
                  <a:pt x="0" y="0"/>
                </a:lnTo>
                <a:close/>
              </a:path>
            </a:pathLst>
          </a:custGeom>
          <a:blipFill>
            <a:blip r:embed="rId3"/>
            <a:stretch>
              <a:fillRect l="0" t="0" r="0" b="0"/>
            </a:stretch>
          </a:blipFill>
        </p:spPr>
      </p:sp>
      <p:grpSp>
        <p:nvGrpSpPr>
          <p:cNvPr name="Group 5" id="5"/>
          <p:cNvGrpSpPr/>
          <p:nvPr/>
        </p:nvGrpSpPr>
        <p:grpSpPr>
          <a:xfrm rot="0">
            <a:off x="379892" y="985033"/>
            <a:ext cx="5357361" cy="1803503"/>
            <a:chOff x="0" y="0"/>
            <a:chExt cx="7143148" cy="2404670"/>
          </a:xfrm>
        </p:grpSpPr>
        <p:sp>
          <p:nvSpPr>
            <p:cNvPr name="TextBox 6" id="6"/>
            <p:cNvSpPr txBox="true"/>
            <p:nvPr/>
          </p:nvSpPr>
          <p:spPr>
            <a:xfrm rot="0">
              <a:off x="0" y="688416"/>
              <a:ext cx="7143148" cy="1716254"/>
            </a:xfrm>
            <a:prstGeom prst="rect">
              <a:avLst/>
            </a:prstGeom>
          </p:spPr>
          <p:txBody>
            <a:bodyPr anchor="t" rtlCol="false" tIns="0" lIns="0" bIns="0" rIns="0">
              <a:spAutoFit/>
            </a:bodyPr>
            <a:lstStyle/>
            <a:p>
              <a:pPr algn="l">
                <a:lnSpc>
                  <a:spcPts val="5036"/>
                </a:lnSpc>
              </a:pPr>
              <a:r>
                <a:rPr lang="en-US" sz="4268" b="true">
                  <a:solidFill>
                    <a:srgbClr val="000000"/>
                  </a:solidFill>
                  <a:latin typeface="HK Grotesk Bold"/>
                  <a:ea typeface="HK Grotesk Bold"/>
                  <a:cs typeface="HK Grotesk Bold"/>
                  <a:sym typeface="HK Grotesk Bold"/>
                </a:rPr>
                <a:t>Ser</a:t>
              </a:r>
              <a:r>
                <a:rPr lang="en-US" sz="4268" b="true">
                  <a:solidFill>
                    <a:srgbClr val="000000"/>
                  </a:solidFill>
                  <a:latin typeface="HK Grotesk Bold"/>
                  <a:ea typeface="HK Grotesk Bold"/>
                  <a:cs typeface="HK Grotesk Bold"/>
                  <a:sym typeface="HK Grotesk Bold"/>
                </a:rPr>
                <a:t>ial vs Parallel Computing</a:t>
              </a:r>
            </a:p>
          </p:txBody>
        </p:sp>
        <p:sp>
          <p:nvSpPr>
            <p:cNvPr name="TextBox 7" id="7"/>
            <p:cNvSpPr txBox="true"/>
            <p:nvPr/>
          </p:nvSpPr>
          <p:spPr>
            <a:xfrm rot="0">
              <a:off x="0" y="-28575"/>
              <a:ext cx="5078790" cy="452892"/>
            </a:xfrm>
            <a:prstGeom prst="rect">
              <a:avLst/>
            </a:prstGeom>
          </p:spPr>
          <p:txBody>
            <a:bodyPr anchor="t" rtlCol="false" tIns="0" lIns="0" bIns="0" rIns="0">
              <a:spAutoFit/>
            </a:bodyPr>
            <a:lstStyle/>
            <a:p>
              <a:pPr algn="l" marL="0" indent="0" lvl="0">
                <a:lnSpc>
                  <a:spcPts val="2987"/>
                </a:lnSpc>
                <a:spcBef>
                  <a:spcPct val="0"/>
                </a:spcBef>
              </a:pPr>
            </a:p>
          </p:txBody>
        </p:sp>
      </p:grpSp>
      <p:sp>
        <p:nvSpPr>
          <p:cNvPr name="TextBox 8" id="8"/>
          <p:cNvSpPr txBox="true"/>
          <p:nvPr/>
        </p:nvSpPr>
        <p:spPr>
          <a:xfrm rot="0">
            <a:off x="316503" y="3302117"/>
            <a:ext cx="7221583" cy="2278263"/>
          </a:xfrm>
          <a:prstGeom prst="rect">
            <a:avLst/>
          </a:prstGeom>
        </p:spPr>
        <p:txBody>
          <a:bodyPr anchor="t" rtlCol="false" tIns="0" lIns="0" bIns="0" rIns="0">
            <a:spAutoFit/>
          </a:bodyPr>
          <a:lstStyle/>
          <a:p>
            <a:pPr algn="just">
              <a:lnSpc>
                <a:spcPts val="2911"/>
              </a:lnSpc>
              <a:spcBef>
                <a:spcPct val="0"/>
              </a:spcBef>
            </a:pPr>
            <a:r>
              <a:rPr lang="en-US" b="true" sz="2079" spc="-20">
                <a:solidFill>
                  <a:srgbClr val="000000"/>
                </a:solidFill>
                <a:latin typeface="Assistant Bold"/>
                <a:ea typeface="Assistant Bold"/>
                <a:cs typeface="Assistant Bold"/>
                <a:sym typeface="Assistant Bold"/>
              </a:rPr>
              <a:t>Serial Compu</a:t>
            </a:r>
            <a:r>
              <a:rPr lang="en-US" b="true" sz="2079" spc="-20">
                <a:solidFill>
                  <a:srgbClr val="000000"/>
                </a:solidFill>
                <a:latin typeface="Assistant Bold"/>
                <a:ea typeface="Assistant Bold"/>
                <a:cs typeface="Assistant Bold"/>
                <a:sym typeface="Assistant Bold"/>
              </a:rPr>
              <a:t>ting:</a:t>
            </a:r>
            <a:r>
              <a:rPr lang="en-US" sz="2079" spc="-20">
                <a:solidFill>
                  <a:srgbClr val="000000"/>
                </a:solidFill>
                <a:latin typeface="Assistant"/>
                <a:ea typeface="Assistant"/>
                <a:cs typeface="Assistant"/>
                <a:sym typeface="Assistant"/>
              </a:rPr>
              <a:t> Executes instructions sequentially, one by one. It is simple to implement but limited by single-core performance.</a:t>
            </a:r>
          </a:p>
          <a:p>
            <a:pPr algn="just">
              <a:lnSpc>
                <a:spcPts val="2911"/>
              </a:lnSpc>
              <a:spcBef>
                <a:spcPct val="0"/>
              </a:spcBef>
            </a:pPr>
            <a:r>
              <a:rPr lang="en-US" sz="2079" spc="-20">
                <a:solidFill>
                  <a:srgbClr val="000000"/>
                </a:solidFill>
                <a:latin typeface="Assistant"/>
                <a:ea typeface="Assistant"/>
                <a:cs typeface="Assistant"/>
                <a:sym typeface="Assistant"/>
              </a:rPr>
              <a:t> </a:t>
            </a:r>
          </a:p>
          <a:p>
            <a:pPr algn="just">
              <a:lnSpc>
                <a:spcPts val="3191"/>
              </a:lnSpc>
            </a:pPr>
            <a:r>
              <a:rPr lang="en-US" b="true" sz="2279" spc="-22">
                <a:solidFill>
                  <a:srgbClr val="000000"/>
                </a:solidFill>
                <a:latin typeface="Assistant Bold"/>
                <a:ea typeface="Assistant Bold"/>
                <a:cs typeface="Assistant Bold"/>
                <a:sym typeface="Assistant Bold"/>
              </a:rPr>
              <a:t>Parallel Computing:</a:t>
            </a:r>
            <a:r>
              <a:rPr lang="en-US" sz="2279" spc="-22">
                <a:solidFill>
                  <a:srgbClr val="000000"/>
                </a:solidFill>
                <a:latin typeface="Assistant"/>
                <a:ea typeface="Assistant"/>
                <a:cs typeface="Assistant"/>
                <a:sym typeface="Assistant"/>
              </a:rPr>
              <a:t> Divides a problem into smaller tasks executed simultaneously. It achieves higher speed and efficiency, especially on large computations.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D1354"/>
        </a:solidFill>
      </p:bgPr>
    </p:bg>
    <p:spTree>
      <p:nvGrpSpPr>
        <p:cNvPr id="1" name=""/>
        <p:cNvGrpSpPr/>
        <p:nvPr/>
      </p:nvGrpSpPr>
      <p:grpSpPr>
        <a:xfrm>
          <a:off x="0" y="0"/>
          <a:ext cx="0" cy="0"/>
          <a:chOff x="0" y="0"/>
          <a:chExt cx="0" cy="0"/>
        </a:xfrm>
      </p:grpSpPr>
      <p:sp>
        <p:nvSpPr>
          <p:cNvPr name="Freeform 2" id="2"/>
          <p:cNvSpPr/>
          <p:nvPr/>
        </p:nvSpPr>
        <p:spPr>
          <a:xfrm flipH="false" flipV="false" rot="4494633">
            <a:off x="190629" y="5827220"/>
            <a:ext cx="1257700" cy="1191671"/>
          </a:xfrm>
          <a:custGeom>
            <a:avLst/>
            <a:gdLst/>
            <a:ahLst/>
            <a:cxnLst/>
            <a:rect r="r" b="b" t="t" l="l"/>
            <a:pathLst>
              <a:path h="1191671" w="1257700">
                <a:moveTo>
                  <a:pt x="0" y="0"/>
                </a:moveTo>
                <a:lnTo>
                  <a:pt x="1257701" y="0"/>
                </a:lnTo>
                <a:lnTo>
                  <a:pt x="1257701" y="1191671"/>
                </a:lnTo>
                <a:lnTo>
                  <a:pt x="0" y="1191671"/>
                </a:lnTo>
                <a:lnTo>
                  <a:pt x="0" y="0"/>
                </a:lnTo>
                <a:close/>
              </a:path>
            </a:pathLst>
          </a:custGeom>
          <a:blipFill>
            <a:blip r:embed="rId2"/>
            <a:stretch>
              <a:fillRect l="0" t="0" r="0" b="0"/>
            </a:stretch>
          </a:blipFill>
        </p:spPr>
      </p:sp>
      <p:sp>
        <p:nvSpPr>
          <p:cNvPr name="Freeform 3" id="3"/>
          <p:cNvSpPr/>
          <p:nvPr/>
        </p:nvSpPr>
        <p:spPr>
          <a:xfrm flipH="false" flipV="false" rot="0">
            <a:off x="6228918" y="-457443"/>
            <a:ext cx="3423538" cy="3046949"/>
          </a:xfrm>
          <a:custGeom>
            <a:avLst/>
            <a:gdLst/>
            <a:ahLst/>
            <a:cxnLst/>
            <a:rect r="r" b="b" t="t" l="l"/>
            <a:pathLst>
              <a:path h="3046949" w="3423538">
                <a:moveTo>
                  <a:pt x="0" y="0"/>
                </a:moveTo>
                <a:lnTo>
                  <a:pt x="3423538" y="0"/>
                </a:lnTo>
                <a:lnTo>
                  <a:pt x="3423538" y="3046949"/>
                </a:lnTo>
                <a:lnTo>
                  <a:pt x="0" y="3046949"/>
                </a:lnTo>
                <a:lnTo>
                  <a:pt x="0" y="0"/>
                </a:lnTo>
                <a:close/>
              </a:path>
            </a:pathLst>
          </a:custGeom>
          <a:blipFill>
            <a:blip r:embed="rId3"/>
            <a:stretch>
              <a:fillRect l="0" t="0" r="0" b="0"/>
            </a:stretch>
          </a:blipFill>
        </p:spPr>
      </p:sp>
      <p:sp>
        <p:nvSpPr>
          <p:cNvPr name="Freeform 4" id="4"/>
          <p:cNvSpPr/>
          <p:nvPr/>
        </p:nvSpPr>
        <p:spPr>
          <a:xfrm flipH="false" flipV="false" rot="380713">
            <a:off x="7273892" y="5513631"/>
            <a:ext cx="3496375" cy="3343409"/>
          </a:xfrm>
          <a:custGeom>
            <a:avLst/>
            <a:gdLst/>
            <a:ahLst/>
            <a:cxnLst/>
            <a:rect r="r" b="b" t="t" l="l"/>
            <a:pathLst>
              <a:path h="3343409" w="3496375">
                <a:moveTo>
                  <a:pt x="0" y="0"/>
                </a:moveTo>
                <a:lnTo>
                  <a:pt x="3496376" y="0"/>
                </a:lnTo>
                <a:lnTo>
                  <a:pt x="3496376" y="3343409"/>
                </a:lnTo>
                <a:lnTo>
                  <a:pt x="0" y="3343409"/>
                </a:lnTo>
                <a:lnTo>
                  <a:pt x="0" y="0"/>
                </a:lnTo>
                <a:close/>
              </a:path>
            </a:pathLst>
          </a:custGeom>
          <a:blipFill>
            <a:blip r:embed="rId4"/>
            <a:stretch>
              <a:fillRect l="0" t="0" r="0" b="0"/>
            </a:stretch>
          </a:blipFill>
        </p:spPr>
      </p:sp>
      <p:sp>
        <p:nvSpPr>
          <p:cNvPr name="TextBox 5" id="5"/>
          <p:cNvSpPr txBox="true"/>
          <p:nvPr/>
        </p:nvSpPr>
        <p:spPr>
          <a:xfrm rot="0">
            <a:off x="819479" y="731520"/>
            <a:ext cx="4241876" cy="1498600"/>
          </a:xfrm>
          <a:prstGeom prst="rect">
            <a:avLst/>
          </a:prstGeom>
        </p:spPr>
        <p:txBody>
          <a:bodyPr anchor="t" rtlCol="false" tIns="0" lIns="0" bIns="0" rIns="0">
            <a:spAutoFit/>
          </a:bodyPr>
          <a:lstStyle/>
          <a:p>
            <a:pPr algn="l">
              <a:lnSpc>
                <a:spcPts val="5900"/>
              </a:lnSpc>
            </a:pPr>
            <a:r>
              <a:rPr lang="en-US" sz="5000" b="true">
                <a:solidFill>
                  <a:srgbClr val="FFFFFF"/>
                </a:solidFill>
                <a:latin typeface="HK Grotesk Bold"/>
                <a:ea typeface="HK Grotesk Bold"/>
                <a:cs typeface="HK Grotesk Bold"/>
                <a:sym typeface="HK Grotesk Bold"/>
              </a:rPr>
              <a:t> Task Objectives</a:t>
            </a:r>
          </a:p>
        </p:txBody>
      </p:sp>
      <p:sp>
        <p:nvSpPr>
          <p:cNvPr name="TextBox 6" id="6"/>
          <p:cNvSpPr txBox="true"/>
          <p:nvPr/>
        </p:nvSpPr>
        <p:spPr>
          <a:xfrm rot="0">
            <a:off x="604317" y="2690877"/>
            <a:ext cx="8228970" cy="2749042"/>
          </a:xfrm>
          <a:prstGeom prst="rect">
            <a:avLst/>
          </a:prstGeom>
        </p:spPr>
        <p:txBody>
          <a:bodyPr anchor="t" rtlCol="false" tIns="0" lIns="0" bIns="0" rIns="0">
            <a:spAutoFit/>
          </a:bodyPr>
          <a:lstStyle/>
          <a:p>
            <a:pPr algn="just">
              <a:lnSpc>
                <a:spcPts val="2714"/>
              </a:lnSpc>
              <a:spcBef>
                <a:spcPct val="0"/>
              </a:spcBef>
            </a:pPr>
            <a:r>
              <a:rPr lang="en-US" b="true" sz="2300">
                <a:solidFill>
                  <a:srgbClr val="FFFFFF"/>
                </a:solidFill>
                <a:latin typeface="Assistant Bold"/>
                <a:ea typeface="Assistant Bold"/>
                <a:cs typeface="Assistant Bold"/>
                <a:sym typeface="Assistant Bold"/>
              </a:rPr>
              <a:t>1.</a:t>
            </a:r>
            <a:r>
              <a:rPr lang="en-US" sz="2300">
                <a:solidFill>
                  <a:srgbClr val="FFFFFF"/>
                </a:solidFill>
                <a:latin typeface="Assistant"/>
                <a:ea typeface="Assistant"/>
                <a:cs typeface="Assistant"/>
                <a:sym typeface="Assistant"/>
              </a:rPr>
              <a:t> Implement a serial version of a matrix multiplication program.</a:t>
            </a:r>
          </a:p>
          <a:p>
            <a:pPr algn="just">
              <a:lnSpc>
                <a:spcPts val="2714"/>
              </a:lnSpc>
              <a:spcBef>
                <a:spcPct val="0"/>
              </a:spcBef>
            </a:pPr>
            <a:r>
              <a:rPr lang="en-US" sz="2300">
                <a:solidFill>
                  <a:srgbClr val="FFFFFF"/>
                </a:solidFill>
                <a:latin typeface="Assistant"/>
                <a:ea typeface="Assistant"/>
                <a:cs typeface="Assistant"/>
                <a:sym typeface="Assistant"/>
              </a:rPr>
              <a:t> </a:t>
            </a:r>
          </a:p>
          <a:p>
            <a:pPr algn="just">
              <a:lnSpc>
                <a:spcPts val="2714"/>
              </a:lnSpc>
              <a:spcBef>
                <a:spcPct val="0"/>
              </a:spcBef>
            </a:pPr>
            <a:r>
              <a:rPr lang="en-US" b="true" sz="2300">
                <a:solidFill>
                  <a:srgbClr val="FFFFFF"/>
                </a:solidFill>
                <a:latin typeface="Assistant Bold"/>
                <a:ea typeface="Assistant Bold"/>
                <a:cs typeface="Assistant Bold"/>
                <a:sym typeface="Assistant Bold"/>
              </a:rPr>
              <a:t>2.</a:t>
            </a:r>
            <a:r>
              <a:rPr lang="en-US" sz="2300">
                <a:solidFill>
                  <a:srgbClr val="FFFFFF"/>
                </a:solidFill>
                <a:latin typeface="Assistant"/>
                <a:ea typeface="Assistant"/>
                <a:cs typeface="Assistant"/>
                <a:sym typeface="Assistant"/>
              </a:rPr>
              <a:t> Convert it to parallel computing using multi-threading.</a:t>
            </a:r>
          </a:p>
          <a:p>
            <a:pPr algn="just">
              <a:lnSpc>
                <a:spcPts val="2714"/>
              </a:lnSpc>
              <a:spcBef>
                <a:spcPct val="0"/>
              </a:spcBef>
            </a:pPr>
          </a:p>
          <a:p>
            <a:pPr algn="just">
              <a:lnSpc>
                <a:spcPts val="2714"/>
              </a:lnSpc>
              <a:spcBef>
                <a:spcPct val="0"/>
              </a:spcBef>
            </a:pPr>
            <a:r>
              <a:rPr lang="en-US" b="true" sz="2300">
                <a:solidFill>
                  <a:srgbClr val="FFFFFF"/>
                </a:solidFill>
                <a:latin typeface="Assistant Bold"/>
                <a:ea typeface="Assistant Bold"/>
                <a:cs typeface="Assistant Bold"/>
                <a:sym typeface="Assistant Bold"/>
              </a:rPr>
              <a:t>3. </a:t>
            </a:r>
            <a:r>
              <a:rPr lang="en-US" sz="2300">
                <a:solidFill>
                  <a:srgbClr val="FFFFFF"/>
                </a:solidFill>
                <a:latin typeface="Assistant"/>
                <a:ea typeface="Assistant"/>
                <a:cs typeface="Assistant"/>
                <a:sym typeface="Assistant"/>
              </a:rPr>
              <a:t>Apply performance metrics: Speedup, Relative Speedup,        Efficiency, and Scalability. </a:t>
            </a:r>
          </a:p>
          <a:p>
            <a:pPr algn="just">
              <a:lnSpc>
                <a:spcPts val="2714"/>
              </a:lnSpc>
              <a:spcBef>
                <a:spcPct val="0"/>
              </a:spcBef>
            </a:pPr>
          </a:p>
          <a:p>
            <a:pPr algn="just">
              <a:lnSpc>
                <a:spcPts val="2714"/>
              </a:lnSpc>
              <a:spcBef>
                <a:spcPct val="0"/>
              </a:spcBef>
            </a:pPr>
            <a:r>
              <a:rPr lang="en-US" b="true" sz="2300">
                <a:solidFill>
                  <a:srgbClr val="FFFFFF"/>
                </a:solidFill>
                <a:latin typeface="Assistant Bold"/>
                <a:ea typeface="Assistant Bold"/>
                <a:cs typeface="Assistant Bold"/>
                <a:sym typeface="Assistant Bold"/>
              </a:rPr>
              <a:t>4.</a:t>
            </a:r>
            <a:r>
              <a:rPr lang="en-US" sz="2300">
                <a:solidFill>
                  <a:srgbClr val="FFFFFF"/>
                </a:solidFill>
                <a:latin typeface="Assistant"/>
                <a:ea typeface="Assistant"/>
                <a:cs typeface="Assistant"/>
                <a:sym typeface="Assistant"/>
              </a:rPr>
              <a:t>  Analyze the results and present findings.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25583" y="902958"/>
            <a:ext cx="7502435" cy="751201"/>
          </a:xfrm>
          <a:prstGeom prst="rect">
            <a:avLst/>
          </a:prstGeom>
        </p:spPr>
        <p:txBody>
          <a:bodyPr anchor="t" rtlCol="false" tIns="0" lIns="0" bIns="0" rIns="0">
            <a:spAutoFit/>
          </a:bodyPr>
          <a:lstStyle/>
          <a:p>
            <a:pPr algn="l">
              <a:lnSpc>
                <a:spcPts val="5900"/>
              </a:lnSpc>
            </a:pPr>
            <a:r>
              <a:rPr lang="en-US" sz="5000" b="true">
                <a:solidFill>
                  <a:srgbClr val="000000"/>
                </a:solidFill>
                <a:latin typeface="HK Grotesk Bold"/>
                <a:ea typeface="HK Grotesk Bold"/>
                <a:cs typeface="HK Grotesk Bold"/>
                <a:sym typeface="HK Grotesk Bold"/>
              </a:rPr>
              <a:t> Performance Metrics</a:t>
            </a:r>
          </a:p>
        </p:txBody>
      </p:sp>
      <p:sp>
        <p:nvSpPr>
          <p:cNvPr name="Freeform 3" id="3"/>
          <p:cNvSpPr/>
          <p:nvPr/>
        </p:nvSpPr>
        <p:spPr>
          <a:xfrm flipH="false" flipV="false" rot="-10141306">
            <a:off x="-2034775" y="4670550"/>
            <a:ext cx="4069550" cy="3891507"/>
          </a:xfrm>
          <a:custGeom>
            <a:avLst/>
            <a:gdLst/>
            <a:ahLst/>
            <a:cxnLst/>
            <a:rect r="r" b="b" t="t" l="l"/>
            <a:pathLst>
              <a:path h="3891507" w="4069550">
                <a:moveTo>
                  <a:pt x="0" y="0"/>
                </a:moveTo>
                <a:lnTo>
                  <a:pt x="4069550" y="0"/>
                </a:lnTo>
                <a:lnTo>
                  <a:pt x="4069550" y="3891507"/>
                </a:lnTo>
                <a:lnTo>
                  <a:pt x="0" y="3891507"/>
                </a:lnTo>
                <a:lnTo>
                  <a:pt x="0" y="0"/>
                </a:lnTo>
                <a:close/>
              </a:path>
            </a:pathLst>
          </a:custGeom>
          <a:blipFill>
            <a:blip r:embed="rId2"/>
            <a:stretch>
              <a:fillRect l="0" t="0" r="0" b="0"/>
            </a:stretch>
          </a:blipFill>
        </p:spPr>
      </p:sp>
      <p:grpSp>
        <p:nvGrpSpPr>
          <p:cNvPr name="Group 4" id="4"/>
          <p:cNvGrpSpPr/>
          <p:nvPr/>
        </p:nvGrpSpPr>
        <p:grpSpPr>
          <a:xfrm rot="0">
            <a:off x="1265734" y="2242720"/>
            <a:ext cx="2204690" cy="826318"/>
            <a:chOff x="0" y="0"/>
            <a:chExt cx="2939587" cy="1101757"/>
          </a:xfrm>
        </p:grpSpPr>
        <p:sp>
          <p:nvSpPr>
            <p:cNvPr name="TextBox 5" id="5"/>
            <p:cNvSpPr txBox="true"/>
            <p:nvPr/>
          </p:nvSpPr>
          <p:spPr>
            <a:xfrm rot="0">
              <a:off x="0" y="-19050"/>
              <a:ext cx="2939587" cy="526151"/>
            </a:xfrm>
            <a:prstGeom prst="rect">
              <a:avLst/>
            </a:prstGeom>
          </p:spPr>
          <p:txBody>
            <a:bodyPr anchor="t" rtlCol="false" tIns="0" lIns="0" bIns="0" rIns="0">
              <a:spAutoFit/>
            </a:bodyPr>
            <a:lstStyle/>
            <a:p>
              <a:pPr algn="l">
                <a:lnSpc>
                  <a:spcPts val="3250"/>
                </a:lnSpc>
              </a:pPr>
              <a:r>
                <a:rPr lang="en-US" sz="2499" b="true">
                  <a:solidFill>
                    <a:srgbClr val="731F7D"/>
                  </a:solidFill>
                  <a:latin typeface="Halant Medium"/>
                  <a:ea typeface="Halant Medium"/>
                  <a:cs typeface="Halant Medium"/>
                  <a:sym typeface="Halant Medium"/>
                </a:rPr>
                <a:t> Speedup (S):</a:t>
              </a:r>
            </a:p>
          </p:txBody>
        </p:sp>
        <p:sp>
          <p:nvSpPr>
            <p:cNvPr name="TextBox 6" id="6"/>
            <p:cNvSpPr txBox="true"/>
            <p:nvPr/>
          </p:nvSpPr>
          <p:spPr>
            <a:xfrm rot="0">
              <a:off x="0" y="715041"/>
              <a:ext cx="2939587" cy="386715"/>
            </a:xfrm>
            <a:prstGeom prst="rect">
              <a:avLst/>
            </a:prstGeom>
          </p:spPr>
          <p:txBody>
            <a:bodyPr anchor="t" rtlCol="false" tIns="0" lIns="0" bIns="0" rIns="0">
              <a:spAutoFit/>
            </a:bodyPr>
            <a:lstStyle/>
            <a:p>
              <a:pPr algn="l">
                <a:lnSpc>
                  <a:spcPts val="2519"/>
                </a:lnSpc>
                <a:spcBef>
                  <a:spcPct val="0"/>
                </a:spcBef>
              </a:pPr>
              <a:r>
                <a:rPr lang="en-US" sz="1799" spc="-17">
                  <a:solidFill>
                    <a:srgbClr val="000000"/>
                  </a:solidFill>
                  <a:latin typeface="Assistant"/>
                  <a:ea typeface="Assistant"/>
                  <a:cs typeface="Assistant"/>
                  <a:sym typeface="Assistant"/>
                </a:rPr>
                <a:t> S = T_serial / T_parallel</a:t>
              </a:r>
            </a:p>
          </p:txBody>
        </p:sp>
      </p:grpSp>
      <p:grpSp>
        <p:nvGrpSpPr>
          <p:cNvPr name="Group 7" id="7"/>
          <p:cNvGrpSpPr/>
          <p:nvPr/>
        </p:nvGrpSpPr>
        <p:grpSpPr>
          <a:xfrm rot="0">
            <a:off x="4876800" y="2242720"/>
            <a:ext cx="2629827" cy="826318"/>
            <a:chOff x="0" y="0"/>
            <a:chExt cx="3506437" cy="1101757"/>
          </a:xfrm>
        </p:grpSpPr>
        <p:sp>
          <p:nvSpPr>
            <p:cNvPr name="TextBox 8" id="8"/>
            <p:cNvSpPr txBox="true"/>
            <p:nvPr/>
          </p:nvSpPr>
          <p:spPr>
            <a:xfrm rot="0">
              <a:off x="0" y="-19050"/>
              <a:ext cx="3506437" cy="526151"/>
            </a:xfrm>
            <a:prstGeom prst="rect">
              <a:avLst/>
            </a:prstGeom>
          </p:spPr>
          <p:txBody>
            <a:bodyPr anchor="t" rtlCol="false" tIns="0" lIns="0" bIns="0" rIns="0">
              <a:spAutoFit/>
            </a:bodyPr>
            <a:lstStyle/>
            <a:p>
              <a:pPr algn="l" marL="0" indent="0" lvl="0">
                <a:lnSpc>
                  <a:spcPts val="3250"/>
                </a:lnSpc>
                <a:spcBef>
                  <a:spcPct val="0"/>
                </a:spcBef>
              </a:pPr>
              <a:r>
                <a:rPr lang="en-US" b="true" sz="2500">
                  <a:solidFill>
                    <a:srgbClr val="731F7D"/>
                  </a:solidFill>
                  <a:latin typeface="Halant Medium"/>
                  <a:ea typeface="Halant Medium"/>
                  <a:cs typeface="Halant Medium"/>
                  <a:sym typeface="Halant Medium"/>
                </a:rPr>
                <a:t> Rel</a:t>
              </a:r>
              <a:r>
                <a:rPr lang="en-US" b="true" sz="2500" u="none">
                  <a:solidFill>
                    <a:srgbClr val="731F7D"/>
                  </a:solidFill>
                  <a:latin typeface="Halant Medium"/>
                  <a:ea typeface="Halant Medium"/>
                  <a:cs typeface="Halant Medium"/>
                  <a:sym typeface="Halant Medium"/>
                </a:rPr>
                <a:t>ative Speedup:</a:t>
              </a:r>
            </a:p>
          </p:txBody>
        </p:sp>
        <p:sp>
          <p:nvSpPr>
            <p:cNvPr name="TextBox 9" id="9"/>
            <p:cNvSpPr txBox="true"/>
            <p:nvPr/>
          </p:nvSpPr>
          <p:spPr>
            <a:xfrm rot="0">
              <a:off x="0" y="715041"/>
              <a:ext cx="3506437" cy="386715"/>
            </a:xfrm>
            <a:prstGeom prst="rect">
              <a:avLst/>
            </a:prstGeom>
          </p:spPr>
          <p:txBody>
            <a:bodyPr anchor="t" rtlCol="false" tIns="0" lIns="0" bIns="0" rIns="0">
              <a:spAutoFit/>
            </a:bodyPr>
            <a:lstStyle/>
            <a:p>
              <a:pPr algn="l">
                <a:lnSpc>
                  <a:spcPts val="2519"/>
                </a:lnSpc>
                <a:spcBef>
                  <a:spcPct val="0"/>
                </a:spcBef>
              </a:pPr>
              <a:r>
                <a:rPr lang="en-US" sz="1799" spc="-17">
                  <a:solidFill>
                    <a:srgbClr val="000000"/>
                  </a:solidFill>
                  <a:latin typeface="Assistant"/>
                  <a:ea typeface="Assistant"/>
                  <a:cs typeface="Assistant"/>
                  <a:sym typeface="Assistant"/>
                </a:rPr>
                <a:t>S_</a:t>
              </a:r>
              <a:r>
                <a:rPr lang="en-US" sz="1799" spc="-17">
                  <a:solidFill>
                    <a:srgbClr val="000000"/>
                  </a:solidFill>
                  <a:latin typeface="Assistant"/>
                  <a:ea typeface="Assistant"/>
                  <a:cs typeface="Assistant"/>
                  <a:sym typeface="Assistant"/>
                </a:rPr>
                <a:t>rel = T_P0 / T_P</a:t>
              </a:r>
            </a:p>
          </p:txBody>
        </p:sp>
      </p:grpSp>
      <p:grpSp>
        <p:nvGrpSpPr>
          <p:cNvPr name="Group 10" id="10"/>
          <p:cNvGrpSpPr/>
          <p:nvPr/>
        </p:nvGrpSpPr>
        <p:grpSpPr>
          <a:xfrm rot="0">
            <a:off x="1265734" y="3971925"/>
            <a:ext cx="2204690" cy="826318"/>
            <a:chOff x="0" y="0"/>
            <a:chExt cx="2939587" cy="1101757"/>
          </a:xfrm>
        </p:grpSpPr>
        <p:sp>
          <p:nvSpPr>
            <p:cNvPr name="TextBox 11" id="11"/>
            <p:cNvSpPr txBox="true"/>
            <p:nvPr/>
          </p:nvSpPr>
          <p:spPr>
            <a:xfrm rot="0">
              <a:off x="0" y="-19050"/>
              <a:ext cx="2939587" cy="526151"/>
            </a:xfrm>
            <a:prstGeom prst="rect">
              <a:avLst/>
            </a:prstGeom>
          </p:spPr>
          <p:txBody>
            <a:bodyPr anchor="t" rtlCol="false" tIns="0" lIns="0" bIns="0" rIns="0">
              <a:spAutoFit/>
            </a:bodyPr>
            <a:lstStyle/>
            <a:p>
              <a:pPr algn="l" marL="0" indent="0" lvl="0">
                <a:lnSpc>
                  <a:spcPts val="3250"/>
                </a:lnSpc>
                <a:spcBef>
                  <a:spcPct val="0"/>
                </a:spcBef>
              </a:pPr>
              <a:r>
                <a:rPr lang="en-US" b="true" sz="2500">
                  <a:solidFill>
                    <a:srgbClr val="731F7D"/>
                  </a:solidFill>
                  <a:latin typeface="Halant Medium"/>
                  <a:ea typeface="Halant Medium"/>
                  <a:cs typeface="Halant Medium"/>
                  <a:sym typeface="Halant Medium"/>
                </a:rPr>
                <a:t>E</a:t>
              </a:r>
              <a:r>
                <a:rPr lang="en-US" b="true" sz="2500" u="none">
                  <a:solidFill>
                    <a:srgbClr val="731F7D"/>
                  </a:solidFill>
                  <a:latin typeface="Halant Medium"/>
                  <a:ea typeface="Halant Medium"/>
                  <a:cs typeface="Halant Medium"/>
                  <a:sym typeface="Halant Medium"/>
                </a:rPr>
                <a:t>fficiency (E): </a:t>
              </a:r>
            </a:p>
          </p:txBody>
        </p:sp>
        <p:sp>
          <p:nvSpPr>
            <p:cNvPr name="TextBox 12" id="12"/>
            <p:cNvSpPr txBox="true"/>
            <p:nvPr/>
          </p:nvSpPr>
          <p:spPr>
            <a:xfrm rot="0">
              <a:off x="0" y="715041"/>
              <a:ext cx="2939587" cy="386715"/>
            </a:xfrm>
            <a:prstGeom prst="rect">
              <a:avLst/>
            </a:prstGeom>
          </p:spPr>
          <p:txBody>
            <a:bodyPr anchor="t" rtlCol="false" tIns="0" lIns="0" bIns="0" rIns="0">
              <a:spAutoFit/>
            </a:bodyPr>
            <a:lstStyle/>
            <a:p>
              <a:pPr algn="l">
                <a:lnSpc>
                  <a:spcPts val="2519"/>
                </a:lnSpc>
                <a:spcBef>
                  <a:spcPct val="0"/>
                </a:spcBef>
              </a:pPr>
              <a:r>
                <a:rPr lang="en-US" sz="1799" spc="-17">
                  <a:solidFill>
                    <a:srgbClr val="000000"/>
                  </a:solidFill>
                  <a:latin typeface="Assistant"/>
                  <a:ea typeface="Assistant"/>
                  <a:cs typeface="Assistant"/>
                  <a:sym typeface="Assistant"/>
                </a:rPr>
                <a:t> E = S / N_threads</a:t>
              </a:r>
            </a:p>
          </p:txBody>
        </p:sp>
      </p:grpSp>
      <p:sp>
        <p:nvSpPr>
          <p:cNvPr name="Freeform 13" id="13"/>
          <p:cNvSpPr/>
          <p:nvPr/>
        </p:nvSpPr>
        <p:spPr>
          <a:xfrm flipH="false" flipV="false" rot="9440951">
            <a:off x="-716899" y="223696"/>
            <a:ext cx="1433798" cy="1358524"/>
          </a:xfrm>
          <a:custGeom>
            <a:avLst/>
            <a:gdLst/>
            <a:ahLst/>
            <a:cxnLst/>
            <a:rect r="r" b="b" t="t" l="l"/>
            <a:pathLst>
              <a:path h="1358524" w="1433798">
                <a:moveTo>
                  <a:pt x="0" y="0"/>
                </a:moveTo>
                <a:lnTo>
                  <a:pt x="1433798" y="0"/>
                </a:lnTo>
                <a:lnTo>
                  <a:pt x="1433798" y="1358523"/>
                </a:lnTo>
                <a:lnTo>
                  <a:pt x="0" y="1358523"/>
                </a:lnTo>
                <a:lnTo>
                  <a:pt x="0" y="0"/>
                </a:lnTo>
                <a:close/>
              </a:path>
            </a:pathLst>
          </a:custGeom>
          <a:blipFill>
            <a:blip r:embed="rId3"/>
            <a:stretch>
              <a:fillRect l="0" t="0" r="0" b="0"/>
            </a:stretch>
          </a:blipFill>
        </p:spPr>
      </p:sp>
      <p:grpSp>
        <p:nvGrpSpPr>
          <p:cNvPr name="Group 14" id="14"/>
          <p:cNvGrpSpPr/>
          <p:nvPr/>
        </p:nvGrpSpPr>
        <p:grpSpPr>
          <a:xfrm rot="0">
            <a:off x="4876800" y="3814762"/>
            <a:ext cx="4546580" cy="1140643"/>
            <a:chOff x="0" y="0"/>
            <a:chExt cx="6062107" cy="1520857"/>
          </a:xfrm>
        </p:grpSpPr>
        <p:sp>
          <p:nvSpPr>
            <p:cNvPr name="TextBox 15" id="15"/>
            <p:cNvSpPr txBox="true"/>
            <p:nvPr/>
          </p:nvSpPr>
          <p:spPr>
            <a:xfrm rot="0">
              <a:off x="0" y="-19050"/>
              <a:ext cx="6062107" cy="526151"/>
            </a:xfrm>
            <a:prstGeom prst="rect">
              <a:avLst/>
            </a:prstGeom>
          </p:spPr>
          <p:txBody>
            <a:bodyPr anchor="t" rtlCol="false" tIns="0" lIns="0" bIns="0" rIns="0">
              <a:spAutoFit/>
            </a:bodyPr>
            <a:lstStyle/>
            <a:p>
              <a:pPr algn="l" marL="0" indent="0" lvl="0">
                <a:lnSpc>
                  <a:spcPts val="3250"/>
                </a:lnSpc>
                <a:spcBef>
                  <a:spcPct val="0"/>
                </a:spcBef>
              </a:pPr>
              <a:r>
                <a:rPr lang="en-US" b="true" sz="2500">
                  <a:solidFill>
                    <a:srgbClr val="731F7D"/>
                  </a:solidFill>
                  <a:latin typeface="Halant Medium"/>
                  <a:ea typeface="Halant Medium"/>
                  <a:cs typeface="Halant Medium"/>
                  <a:sym typeface="Halant Medium"/>
                </a:rPr>
                <a:t>Scal</a:t>
              </a:r>
              <a:r>
                <a:rPr lang="en-US" b="true" sz="2500" u="none">
                  <a:solidFill>
                    <a:srgbClr val="731F7D"/>
                  </a:solidFill>
                  <a:latin typeface="Halant Medium"/>
                  <a:ea typeface="Halant Medium"/>
                  <a:cs typeface="Halant Medium"/>
                  <a:sym typeface="Halant Medium"/>
                </a:rPr>
                <a:t>ability:</a:t>
              </a:r>
            </a:p>
          </p:txBody>
        </p:sp>
        <p:sp>
          <p:nvSpPr>
            <p:cNvPr name="TextBox 16" id="16"/>
            <p:cNvSpPr txBox="true"/>
            <p:nvPr/>
          </p:nvSpPr>
          <p:spPr>
            <a:xfrm rot="0">
              <a:off x="0" y="715041"/>
              <a:ext cx="6062107" cy="805815"/>
            </a:xfrm>
            <a:prstGeom prst="rect">
              <a:avLst/>
            </a:prstGeom>
          </p:spPr>
          <p:txBody>
            <a:bodyPr anchor="t" rtlCol="false" tIns="0" lIns="0" bIns="0" rIns="0">
              <a:spAutoFit/>
            </a:bodyPr>
            <a:lstStyle/>
            <a:p>
              <a:pPr algn="l">
                <a:lnSpc>
                  <a:spcPts val="2519"/>
                </a:lnSpc>
                <a:spcBef>
                  <a:spcPct val="0"/>
                </a:spcBef>
              </a:pPr>
              <a:r>
                <a:rPr lang="en-US" sz="1799" spc="-17">
                  <a:solidFill>
                    <a:srgbClr val="000000"/>
                  </a:solidFill>
                  <a:latin typeface="Assistant"/>
                  <a:ea typeface="Assistant"/>
                  <a:cs typeface="Assistant"/>
                  <a:sym typeface="Assistant"/>
                </a:rPr>
                <a:t> How performance improves as the number of threads increases.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494633">
            <a:off x="-1399641" y="5989040"/>
            <a:ext cx="2799283" cy="2652320"/>
          </a:xfrm>
          <a:custGeom>
            <a:avLst/>
            <a:gdLst/>
            <a:ahLst/>
            <a:cxnLst/>
            <a:rect r="r" b="b" t="t" l="l"/>
            <a:pathLst>
              <a:path h="2652320" w="2799283">
                <a:moveTo>
                  <a:pt x="0" y="0"/>
                </a:moveTo>
                <a:lnTo>
                  <a:pt x="2799282" y="0"/>
                </a:lnTo>
                <a:lnTo>
                  <a:pt x="2799282" y="2652320"/>
                </a:lnTo>
                <a:lnTo>
                  <a:pt x="0" y="2652320"/>
                </a:lnTo>
                <a:lnTo>
                  <a:pt x="0" y="0"/>
                </a:lnTo>
                <a:close/>
              </a:path>
            </a:pathLst>
          </a:custGeom>
          <a:blipFill>
            <a:blip r:embed="rId2"/>
            <a:stretch>
              <a:fillRect l="0" t="0" r="0" b="0"/>
            </a:stretch>
          </a:blipFill>
        </p:spPr>
      </p:sp>
      <p:sp>
        <p:nvSpPr>
          <p:cNvPr name="TextBox 3" id="3"/>
          <p:cNvSpPr txBox="true"/>
          <p:nvPr/>
        </p:nvSpPr>
        <p:spPr>
          <a:xfrm rot="0">
            <a:off x="1141906" y="1201390"/>
            <a:ext cx="7469788" cy="751201"/>
          </a:xfrm>
          <a:prstGeom prst="rect">
            <a:avLst/>
          </a:prstGeom>
        </p:spPr>
        <p:txBody>
          <a:bodyPr anchor="t" rtlCol="false" tIns="0" lIns="0" bIns="0" rIns="0">
            <a:spAutoFit/>
          </a:bodyPr>
          <a:lstStyle/>
          <a:p>
            <a:pPr algn="ctr">
              <a:lnSpc>
                <a:spcPts val="5900"/>
              </a:lnSpc>
            </a:pPr>
            <a:r>
              <a:rPr lang="en-US" sz="5000" b="true">
                <a:solidFill>
                  <a:srgbClr val="000000"/>
                </a:solidFill>
                <a:latin typeface="HK Grotesk Bold"/>
                <a:ea typeface="HK Grotesk Bold"/>
                <a:cs typeface="HK Grotesk Bold"/>
                <a:sym typeface="HK Grotesk Bold"/>
              </a:rPr>
              <a:t> Experimental Results</a:t>
            </a:r>
          </a:p>
        </p:txBody>
      </p:sp>
      <p:sp>
        <p:nvSpPr>
          <p:cNvPr name="Freeform 4" id="4"/>
          <p:cNvSpPr/>
          <p:nvPr/>
        </p:nvSpPr>
        <p:spPr>
          <a:xfrm flipH="false" flipV="false" rot="313119">
            <a:off x="7730519" y="-980388"/>
            <a:ext cx="3312451" cy="3167532"/>
          </a:xfrm>
          <a:custGeom>
            <a:avLst/>
            <a:gdLst/>
            <a:ahLst/>
            <a:cxnLst/>
            <a:rect r="r" b="b" t="t" l="l"/>
            <a:pathLst>
              <a:path h="3167532" w="3312451">
                <a:moveTo>
                  <a:pt x="0" y="0"/>
                </a:moveTo>
                <a:lnTo>
                  <a:pt x="3312452" y="0"/>
                </a:lnTo>
                <a:lnTo>
                  <a:pt x="3312452" y="3167532"/>
                </a:lnTo>
                <a:lnTo>
                  <a:pt x="0" y="3167532"/>
                </a:lnTo>
                <a:lnTo>
                  <a:pt x="0" y="0"/>
                </a:lnTo>
                <a:close/>
              </a:path>
            </a:pathLst>
          </a:custGeom>
          <a:blipFill>
            <a:blip r:embed="rId3"/>
            <a:stretch>
              <a:fillRect l="0" t="0" r="0" b="0"/>
            </a:stretch>
          </a:blipFill>
        </p:spPr>
      </p:sp>
      <p:graphicFrame>
        <p:nvGraphicFramePr>
          <p:cNvPr name="Table 5" id="5"/>
          <p:cNvGraphicFramePr>
            <a:graphicFrameLocks noGrp="true"/>
          </p:cNvGraphicFramePr>
          <p:nvPr/>
        </p:nvGraphicFramePr>
        <p:xfrm>
          <a:off x="1067115" y="2513433"/>
          <a:ext cx="7954965" cy="3105150"/>
        </p:xfrm>
        <a:graphic>
          <a:graphicData uri="http://schemas.openxmlformats.org/drawingml/2006/table">
            <a:tbl>
              <a:tblPr/>
              <a:tblGrid>
                <a:gridCol w="1779444"/>
                <a:gridCol w="2537932"/>
                <a:gridCol w="1797178"/>
                <a:gridCol w="1840411"/>
              </a:tblGrid>
              <a:tr h="621030">
                <a:tc>
                  <a:txBody>
                    <a:bodyPr anchor="t" rtlCol="false"/>
                    <a:lstStyle/>
                    <a:p>
                      <a:pPr algn="ctr">
                        <a:lnSpc>
                          <a:spcPts val="2239"/>
                        </a:lnSpc>
                        <a:defRPr/>
                      </a:pPr>
                      <a:r>
                        <a:rPr lang="en-US" sz="1599">
                          <a:solidFill>
                            <a:srgbClr val="FFFFFF">
                              <a:alpha val="86667"/>
                            </a:srgbClr>
                          </a:solidFill>
                          <a:latin typeface="Sniglet"/>
                          <a:ea typeface="Sniglet"/>
                          <a:cs typeface="Sniglet"/>
                          <a:sym typeface="Sniglet"/>
                        </a:rPr>
                        <a:t>Threads</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4D1354">
                        <a:alpha val="86667"/>
                      </a:srgbClr>
                    </a:solidFill>
                  </a:tcPr>
                </a:tc>
                <a:tc>
                  <a:txBody>
                    <a:bodyPr anchor="t" rtlCol="false"/>
                    <a:lstStyle/>
                    <a:p>
                      <a:pPr algn="ctr">
                        <a:lnSpc>
                          <a:spcPts val="2239"/>
                        </a:lnSpc>
                        <a:defRPr/>
                      </a:pPr>
                      <a:r>
                        <a:rPr lang="en-US" sz="1599">
                          <a:solidFill>
                            <a:srgbClr val="FFFFFF">
                              <a:alpha val="86667"/>
                            </a:srgbClr>
                          </a:solidFill>
                          <a:latin typeface="Sniglet"/>
                          <a:ea typeface="Sniglet"/>
                          <a:cs typeface="Sniglet"/>
                          <a:sym typeface="Sniglet"/>
                        </a:rPr>
                        <a:t>Execution Time (ms)</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4D1354">
                        <a:alpha val="86667"/>
                      </a:srgbClr>
                    </a:solidFill>
                  </a:tcPr>
                </a:tc>
                <a:tc>
                  <a:txBody>
                    <a:bodyPr anchor="t" rtlCol="false"/>
                    <a:lstStyle/>
                    <a:p>
                      <a:pPr algn="ctr">
                        <a:lnSpc>
                          <a:spcPts val="2239"/>
                        </a:lnSpc>
                        <a:defRPr/>
                      </a:pPr>
                      <a:r>
                        <a:rPr lang="en-US" sz="1599">
                          <a:solidFill>
                            <a:srgbClr val="FFFFFF">
                              <a:alpha val="86667"/>
                            </a:srgbClr>
                          </a:solidFill>
                          <a:latin typeface="Sniglet"/>
                          <a:ea typeface="Sniglet"/>
                          <a:cs typeface="Sniglet"/>
                          <a:sym typeface="Sniglet"/>
                        </a:rPr>
                        <a:t> Speedup</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4D1354">
                        <a:alpha val="86667"/>
                      </a:srgbClr>
                    </a:solidFill>
                  </a:tcPr>
                </a:tc>
                <a:tc>
                  <a:txBody>
                    <a:bodyPr anchor="t" rtlCol="false"/>
                    <a:lstStyle/>
                    <a:p>
                      <a:pPr algn="ctr">
                        <a:lnSpc>
                          <a:spcPts val="2239"/>
                        </a:lnSpc>
                        <a:defRPr/>
                      </a:pPr>
                      <a:r>
                        <a:rPr lang="en-US" sz="1599">
                          <a:solidFill>
                            <a:srgbClr val="FFFFFF">
                              <a:alpha val="86667"/>
                            </a:srgbClr>
                          </a:solidFill>
                          <a:latin typeface="Sniglet"/>
                          <a:ea typeface="Sniglet"/>
                          <a:cs typeface="Sniglet"/>
                          <a:sym typeface="Sniglet"/>
                        </a:rPr>
                        <a:t> Efficiency</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4D1354">
                        <a:alpha val="86667"/>
                      </a:srgbClr>
                    </a:solidFill>
                  </a:tcPr>
                </a:tc>
              </a:tr>
              <a:tr h="621030">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 1 (Serial)</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4500</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1 .00</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1 .00</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r>
              <a:tr h="621030">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2</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2400</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1 .88</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0 .94</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r>
              <a:tr h="621030">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3</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1300</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3 .46</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0 .86</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r>
              <a:tr h="621030">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4</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900</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5 .00</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c>
                  <a:txBody>
                    <a:bodyPr anchor="t" rtlCol="false"/>
                    <a:lstStyle/>
                    <a:p>
                      <a:pPr algn="ctr">
                        <a:lnSpc>
                          <a:spcPts val="2239"/>
                        </a:lnSpc>
                        <a:defRPr/>
                      </a:pPr>
                      <a:r>
                        <a:rPr lang="en-US" sz="1599">
                          <a:solidFill>
                            <a:srgbClr val="000000">
                              <a:alpha val="86667"/>
                            </a:srgbClr>
                          </a:solidFill>
                          <a:latin typeface="Sniglet"/>
                          <a:ea typeface="Sniglet"/>
                          <a:cs typeface="Sniglet"/>
                          <a:sym typeface="Sniglet"/>
                        </a:rPr>
                        <a:t>0 .62</a:t>
                      </a:r>
                      <a:endParaRPr lang="en-US" sz="1100"/>
                    </a:p>
                  </a:txBody>
                  <a:tcPr marL="161925" marR="161925" marT="161925" marB="1619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alpha val="86667"/>
                      </a:srgbClr>
                    </a:solidFill>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D1354"/>
        </a:solidFill>
      </p:bgPr>
    </p:bg>
    <p:spTree>
      <p:nvGrpSpPr>
        <p:cNvPr id="1" name=""/>
        <p:cNvGrpSpPr/>
        <p:nvPr/>
      </p:nvGrpSpPr>
      <p:grpSpPr>
        <a:xfrm>
          <a:off x="0" y="0"/>
          <a:ext cx="0" cy="0"/>
          <a:chOff x="0" y="0"/>
          <a:chExt cx="0" cy="0"/>
        </a:xfrm>
      </p:grpSpPr>
      <p:sp>
        <p:nvSpPr>
          <p:cNvPr name="Freeform 2" id="2"/>
          <p:cNvSpPr/>
          <p:nvPr/>
        </p:nvSpPr>
        <p:spPr>
          <a:xfrm flipH="false" flipV="false" rot="0">
            <a:off x="3801926" y="5549695"/>
            <a:ext cx="1359473" cy="1288100"/>
          </a:xfrm>
          <a:custGeom>
            <a:avLst/>
            <a:gdLst/>
            <a:ahLst/>
            <a:cxnLst/>
            <a:rect r="r" b="b" t="t" l="l"/>
            <a:pathLst>
              <a:path h="1288100" w="1359473">
                <a:moveTo>
                  <a:pt x="0" y="0"/>
                </a:moveTo>
                <a:lnTo>
                  <a:pt x="1359472" y="0"/>
                </a:lnTo>
                <a:lnTo>
                  <a:pt x="1359472" y="1288100"/>
                </a:lnTo>
                <a:lnTo>
                  <a:pt x="0" y="1288100"/>
                </a:lnTo>
                <a:lnTo>
                  <a:pt x="0" y="0"/>
                </a:lnTo>
                <a:close/>
              </a:path>
            </a:pathLst>
          </a:custGeom>
          <a:blipFill>
            <a:blip r:embed="rId2"/>
            <a:stretch>
              <a:fillRect l="0" t="0" r="0" b="0"/>
            </a:stretch>
          </a:blipFill>
        </p:spPr>
      </p:sp>
      <p:sp>
        <p:nvSpPr>
          <p:cNvPr name="Freeform 3" id="3"/>
          <p:cNvSpPr/>
          <p:nvPr/>
        </p:nvSpPr>
        <p:spPr>
          <a:xfrm flipH="false" flipV="false" rot="-5769519">
            <a:off x="-1291712" y="447267"/>
            <a:ext cx="6142905" cy="5467185"/>
          </a:xfrm>
          <a:custGeom>
            <a:avLst/>
            <a:gdLst/>
            <a:ahLst/>
            <a:cxnLst/>
            <a:rect r="r" b="b" t="t" l="l"/>
            <a:pathLst>
              <a:path h="5467185" w="6142905">
                <a:moveTo>
                  <a:pt x="0" y="0"/>
                </a:moveTo>
                <a:lnTo>
                  <a:pt x="6142904" y="0"/>
                </a:lnTo>
                <a:lnTo>
                  <a:pt x="6142904" y="5467185"/>
                </a:lnTo>
                <a:lnTo>
                  <a:pt x="0" y="5467185"/>
                </a:lnTo>
                <a:lnTo>
                  <a:pt x="0" y="0"/>
                </a:lnTo>
                <a:close/>
              </a:path>
            </a:pathLst>
          </a:custGeom>
          <a:blipFill>
            <a:blip r:embed="rId3"/>
            <a:stretch>
              <a:fillRect l="0" t="0" r="0" b="0"/>
            </a:stretch>
          </a:blipFill>
        </p:spPr>
      </p:sp>
      <p:sp>
        <p:nvSpPr>
          <p:cNvPr name="Freeform 4" id="4"/>
          <p:cNvSpPr/>
          <p:nvPr/>
        </p:nvSpPr>
        <p:spPr>
          <a:xfrm flipH="false" flipV="false" rot="-447366">
            <a:off x="3764739" y="401649"/>
            <a:ext cx="1004265" cy="960328"/>
          </a:xfrm>
          <a:custGeom>
            <a:avLst/>
            <a:gdLst/>
            <a:ahLst/>
            <a:cxnLst/>
            <a:rect r="r" b="b" t="t" l="l"/>
            <a:pathLst>
              <a:path h="960328" w="1004265">
                <a:moveTo>
                  <a:pt x="0" y="0"/>
                </a:moveTo>
                <a:lnTo>
                  <a:pt x="1004265" y="0"/>
                </a:lnTo>
                <a:lnTo>
                  <a:pt x="1004265" y="960328"/>
                </a:lnTo>
                <a:lnTo>
                  <a:pt x="0" y="960328"/>
                </a:lnTo>
                <a:lnTo>
                  <a:pt x="0" y="0"/>
                </a:lnTo>
                <a:close/>
              </a:path>
            </a:pathLst>
          </a:custGeom>
          <a:blipFill>
            <a:blip r:embed="rId4"/>
            <a:stretch>
              <a:fillRect l="0" t="0" r="0" b="0"/>
            </a:stretch>
          </a:blipFill>
        </p:spPr>
      </p:sp>
      <p:sp>
        <p:nvSpPr>
          <p:cNvPr name="TextBox 5" id="5"/>
          <p:cNvSpPr txBox="true"/>
          <p:nvPr/>
        </p:nvSpPr>
        <p:spPr>
          <a:xfrm rot="0">
            <a:off x="5374970" y="1438740"/>
            <a:ext cx="4010598" cy="4390095"/>
          </a:xfrm>
          <a:prstGeom prst="rect">
            <a:avLst/>
          </a:prstGeom>
        </p:spPr>
        <p:txBody>
          <a:bodyPr anchor="t" rtlCol="false" tIns="0" lIns="0" bIns="0" rIns="0">
            <a:spAutoFit/>
          </a:bodyPr>
          <a:lstStyle/>
          <a:p>
            <a:pPr algn="l">
              <a:lnSpc>
                <a:spcPts val="3201"/>
              </a:lnSpc>
              <a:spcBef>
                <a:spcPct val="0"/>
              </a:spcBef>
            </a:pPr>
            <a:r>
              <a:rPr lang="en-US" sz="2286" spc="-22">
                <a:solidFill>
                  <a:srgbClr val="FFFFFF"/>
                </a:solidFill>
                <a:latin typeface="Assistant"/>
                <a:ea typeface="Assistant"/>
                <a:cs typeface="Assistant"/>
                <a:sym typeface="Assistant"/>
              </a:rPr>
              <a:t>T</a:t>
            </a:r>
            <a:r>
              <a:rPr lang="en-US" sz="2286" spc="-22">
                <a:solidFill>
                  <a:srgbClr val="FFFFFF"/>
                </a:solidFill>
                <a:latin typeface="Assistant"/>
                <a:ea typeface="Assistant"/>
                <a:cs typeface="Assistant"/>
                <a:sym typeface="Assistant"/>
              </a:rPr>
              <a:t>he parallel implementation significantly reduces execution time compared to the serial version. Efficiency decreases as the number of threads increases due to synchronization overhead and memory access contention. Optimal performance is typically achieved with a number of threads close to the number of physical CPU cores.</a:t>
            </a:r>
          </a:p>
        </p:txBody>
      </p:sp>
      <p:sp>
        <p:nvSpPr>
          <p:cNvPr name="TextBox 6" id="6"/>
          <p:cNvSpPr txBox="true"/>
          <p:nvPr/>
        </p:nvSpPr>
        <p:spPr>
          <a:xfrm rot="0">
            <a:off x="731520" y="3108561"/>
            <a:ext cx="3754760" cy="755650"/>
          </a:xfrm>
          <a:prstGeom prst="rect">
            <a:avLst/>
          </a:prstGeom>
        </p:spPr>
        <p:txBody>
          <a:bodyPr anchor="t" rtlCol="false" tIns="0" lIns="0" bIns="0" rIns="0">
            <a:spAutoFit/>
          </a:bodyPr>
          <a:lstStyle/>
          <a:p>
            <a:pPr algn="ctr">
              <a:lnSpc>
                <a:spcPts val="5900"/>
              </a:lnSpc>
              <a:spcBef>
                <a:spcPct val="0"/>
              </a:spcBef>
            </a:pPr>
            <a:r>
              <a:rPr lang="en-US" b="true" sz="5000">
                <a:solidFill>
                  <a:srgbClr val="FFFFFF"/>
                </a:solidFill>
                <a:latin typeface="HK Grotesk Bold"/>
                <a:ea typeface="HK Grotesk Bold"/>
                <a:cs typeface="HK Grotesk Bold"/>
                <a:sym typeface="HK Grotesk Bold"/>
              </a:rPr>
              <a:t>Analysis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D135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232004" y="-544528"/>
            <a:ext cx="5550062" cy="4939555"/>
          </a:xfrm>
          <a:custGeom>
            <a:avLst/>
            <a:gdLst/>
            <a:ahLst/>
            <a:cxnLst/>
            <a:rect r="r" b="b" t="t" l="l"/>
            <a:pathLst>
              <a:path h="4939555" w="5550062">
                <a:moveTo>
                  <a:pt x="0" y="0"/>
                </a:moveTo>
                <a:lnTo>
                  <a:pt x="5550062" y="0"/>
                </a:lnTo>
                <a:lnTo>
                  <a:pt x="5550062" y="4939555"/>
                </a:lnTo>
                <a:lnTo>
                  <a:pt x="0" y="4939555"/>
                </a:lnTo>
                <a:lnTo>
                  <a:pt x="0" y="0"/>
                </a:lnTo>
                <a:close/>
              </a:path>
            </a:pathLst>
          </a:custGeom>
          <a:blipFill>
            <a:blip r:embed="rId2"/>
            <a:stretch>
              <a:fillRect l="0" t="0" r="0" b="0"/>
            </a:stretch>
          </a:blipFill>
        </p:spPr>
      </p:sp>
      <p:sp>
        <p:nvSpPr>
          <p:cNvPr name="Freeform 3" id="3"/>
          <p:cNvSpPr/>
          <p:nvPr/>
        </p:nvSpPr>
        <p:spPr>
          <a:xfrm flipH="false" flipV="false" rot="-5017281">
            <a:off x="3589663" y="811864"/>
            <a:ext cx="1060123" cy="1004466"/>
          </a:xfrm>
          <a:custGeom>
            <a:avLst/>
            <a:gdLst/>
            <a:ahLst/>
            <a:cxnLst/>
            <a:rect r="r" b="b" t="t" l="l"/>
            <a:pathLst>
              <a:path h="1004466" w="1060123">
                <a:moveTo>
                  <a:pt x="0" y="0"/>
                </a:moveTo>
                <a:lnTo>
                  <a:pt x="1060123" y="0"/>
                </a:lnTo>
                <a:lnTo>
                  <a:pt x="1060123" y="1004466"/>
                </a:lnTo>
                <a:lnTo>
                  <a:pt x="0" y="1004466"/>
                </a:lnTo>
                <a:lnTo>
                  <a:pt x="0" y="0"/>
                </a:lnTo>
                <a:close/>
              </a:path>
            </a:pathLst>
          </a:custGeom>
          <a:blipFill>
            <a:blip r:embed="rId3"/>
            <a:stretch>
              <a:fillRect l="0" t="0" r="0" b="0"/>
            </a:stretch>
          </a:blipFill>
        </p:spPr>
      </p:sp>
      <p:sp>
        <p:nvSpPr>
          <p:cNvPr name="Freeform 4" id="4"/>
          <p:cNvSpPr/>
          <p:nvPr/>
        </p:nvSpPr>
        <p:spPr>
          <a:xfrm flipH="false" flipV="false" rot="-10567437">
            <a:off x="8175470" y="5527229"/>
            <a:ext cx="2209570" cy="2112901"/>
          </a:xfrm>
          <a:custGeom>
            <a:avLst/>
            <a:gdLst/>
            <a:ahLst/>
            <a:cxnLst/>
            <a:rect r="r" b="b" t="t" l="l"/>
            <a:pathLst>
              <a:path h="2112901" w="2209570">
                <a:moveTo>
                  <a:pt x="0" y="0"/>
                </a:moveTo>
                <a:lnTo>
                  <a:pt x="2209570" y="0"/>
                </a:lnTo>
                <a:lnTo>
                  <a:pt x="2209570" y="2112902"/>
                </a:lnTo>
                <a:lnTo>
                  <a:pt x="0" y="2112902"/>
                </a:lnTo>
                <a:lnTo>
                  <a:pt x="0" y="0"/>
                </a:lnTo>
                <a:close/>
              </a:path>
            </a:pathLst>
          </a:custGeom>
          <a:blipFill>
            <a:blip r:embed="rId4"/>
            <a:stretch>
              <a:fillRect l="0" t="0" r="0" b="0"/>
            </a:stretch>
          </a:blipFill>
        </p:spPr>
      </p:sp>
      <p:grpSp>
        <p:nvGrpSpPr>
          <p:cNvPr name="Group 5" id="5"/>
          <p:cNvGrpSpPr/>
          <p:nvPr/>
        </p:nvGrpSpPr>
        <p:grpSpPr>
          <a:xfrm rot="0">
            <a:off x="489195" y="607675"/>
            <a:ext cx="4765059" cy="5324755"/>
            <a:chOff x="0" y="0"/>
            <a:chExt cx="6353412" cy="7099673"/>
          </a:xfrm>
        </p:grpSpPr>
        <p:sp>
          <p:nvSpPr>
            <p:cNvPr name="TextBox 6" id="6"/>
            <p:cNvSpPr txBox="true"/>
            <p:nvPr/>
          </p:nvSpPr>
          <p:spPr>
            <a:xfrm rot="0">
              <a:off x="0" y="1330406"/>
              <a:ext cx="6353412" cy="1953904"/>
            </a:xfrm>
            <a:prstGeom prst="rect">
              <a:avLst/>
            </a:prstGeom>
          </p:spPr>
          <p:txBody>
            <a:bodyPr anchor="t" rtlCol="false" tIns="0" lIns="0" bIns="0" rIns="0">
              <a:spAutoFit/>
            </a:bodyPr>
            <a:lstStyle/>
            <a:p>
              <a:pPr algn="l">
                <a:lnSpc>
                  <a:spcPts val="5900"/>
                </a:lnSpc>
              </a:pPr>
              <a:r>
                <a:rPr lang="en-US" sz="5000" b="true">
                  <a:solidFill>
                    <a:srgbClr val="FFFFFF"/>
                  </a:solidFill>
                  <a:latin typeface="HK Grotesk Bold"/>
                  <a:ea typeface="HK Grotesk Bold"/>
                  <a:cs typeface="HK Grotesk Bold"/>
                  <a:sym typeface="HK Grotesk Bold"/>
                </a:rPr>
                <a:t> Scalability Discussion</a:t>
              </a:r>
            </a:p>
          </p:txBody>
        </p:sp>
        <p:sp>
          <p:nvSpPr>
            <p:cNvPr name="TextBox 7" id="7"/>
            <p:cNvSpPr txBox="true"/>
            <p:nvPr/>
          </p:nvSpPr>
          <p:spPr>
            <a:xfrm rot="0">
              <a:off x="0" y="0"/>
              <a:ext cx="1341088" cy="911024"/>
            </a:xfrm>
            <a:prstGeom prst="rect">
              <a:avLst/>
            </a:prstGeom>
          </p:spPr>
          <p:txBody>
            <a:bodyPr anchor="t" rtlCol="false" tIns="0" lIns="0" bIns="0" rIns="0">
              <a:spAutoFit/>
            </a:bodyPr>
            <a:lstStyle/>
            <a:p>
              <a:pPr algn="l" marL="0" indent="0" lvl="0">
                <a:lnSpc>
                  <a:spcPts val="5309"/>
                </a:lnSpc>
                <a:spcBef>
                  <a:spcPct val="0"/>
                </a:spcBef>
              </a:pPr>
            </a:p>
          </p:txBody>
        </p:sp>
        <p:sp>
          <p:nvSpPr>
            <p:cNvPr name="TextBox 8" id="8"/>
            <p:cNvSpPr txBox="true"/>
            <p:nvPr/>
          </p:nvSpPr>
          <p:spPr>
            <a:xfrm rot="0">
              <a:off x="0" y="3665593"/>
              <a:ext cx="6353412" cy="3434081"/>
            </a:xfrm>
            <a:prstGeom prst="rect">
              <a:avLst/>
            </a:prstGeom>
          </p:spPr>
          <p:txBody>
            <a:bodyPr anchor="t" rtlCol="false" tIns="0" lIns="0" bIns="0" rIns="0">
              <a:spAutoFit/>
            </a:bodyPr>
            <a:lstStyle/>
            <a:p>
              <a:pPr algn="l">
                <a:lnSpc>
                  <a:spcPts val="2939"/>
                </a:lnSpc>
                <a:spcBef>
                  <a:spcPct val="0"/>
                </a:spcBef>
              </a:pPr>
              <a:r>
                <a:rPr lang="en-US" sz="2099" spc="-20">
                  <a:solidFill>
                    <a:srgbClr val="FFFFFF"/>
                  </a:solidFill>
                  <a:latin typeface="Assistant"/>
                  <a:ea typeface="Assistant"/>
                  <a:cs typeface="Assistant"/>
                  <a:sym typeface="Assistant"/>
                </a:rPr>
                <a:t>Scalability analysis shows that increasing the number of threads improves performance, but gains diminish beyond a certain point. The system achieves strong scalability for fixed problem sizes and shows good weak scalability when both data size and thread count increase proportionally.</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4367425" cy="7315200"/>
          </a:xfrm>
          <a:custGeom>
            <a:avLst/>
            <a:gdLst/>
            <a:ahLst/>
            <a:cxnLst/>
            <a:rect r="r" b="b" t="t" l="l"/>
            <a:pathLst>
              <a:path h="7315200" w="4367425">
                <a:moveTo>
                  <a:pt x="0" y="0"/>
                </a:moveTo>
                <a:lnTo>
                  <a:pt x="4367425" y="0"/>
                </a:lnTo>
                <a:lnTo>
                  <a:pt x="4367425" y="7315200"/>
                </a:lnTo>
                <a:lnTo>
                  <a:pt x="0" y="7315200"/>
                </a:lnTo>
                <a:lnTo>
                  <a:pt x="0" y="0"/>
                </a:lnTo>
                <a:close/>
              </a:path>
            </a:pathLst>
          </a:custGeom>
          <a:blipFill>
            <a:blip r:embed="rId2"/>
            <a:stretch>
              <a:fillRect l="-23389" t="0" r="-2231" b="0"/>
            </a:stretch>
          </a:blipFill>
        </p:spPr>
      </p:sp>
      <p:sp>
        <p:nvSpPr>
          <p:cNvPr name="TextBox 3" id="3"/>
          <p:cNvSpPr txBox="true"/>
          <p:nvPr/>
        </p:nvSpPr>
        <p:spPr>
          <a:xfrm rot="0">
            <a:off x="4876800" y="837537"/>
            <a:ext cx="3896945" cy="751201"/>
          </a:xfrm>
          <a:prstGeom prst="rect">
            <a:avLst/>
          </a:prstGeom>
        </p:spPr>
        <p:txBody>
          <a:bodyPr anchor="t" rtlCol="false" tIns="0" lIns="0" bIns="0" rIns="0">
            <a:spAutoFit/>
          </a:bodyPr>
          <a:lstStyle/>
          <a:p>
            <a:pPr algn="l">
              <a:lnSpc>
                <a:spcPts val="5900"/>
              </a:lnSpc>
            </a:pPr>
            <a:r>
              <a:rPr lang="en-US" sz="5000" b="true">
                <a:solidFill>
                  <a:srgbClr val="000000"/>
                </a:solidFill>
                <a:latin typeface="HK Grotesk Bold"/>
                <a:ea typeface="HK Grotesk Bold"/>
                <a:cs typeface="HK Grotesk Bold"/>
                <a:sym typeface="HK Grotesk Bold"/>
              </a:rPr>
              <a:t>Conclusion</a:t>
            </a:r>
          </a:p>
        </p:txBody>
      </p:sp>
      <p:sp>
        <p:nvSpPr>
          <p:cNvPr name="TextBox 4" id="4"/>
          <p:cNvSpPr txBox="true"/>
          <p:nvPr/>
        </p:nvSpPr>
        <p:spPr>
          <a:xfrm rot="0">
            <a:off x="4876800" y="1957166"/>
            <a:ext cx="4214997" cy="3887470"/>
          </a:xfrm>
          <a:prstGeom prst="rect">
            <a:avLst/>
          </a:prstGeom>
        </p:spPr>
        <p:txBody>
          <a:bodyPr anchor="t" rtlCol="false" tIns="0" lIns="0" bIns="0" rIns="0">
            <a:spAutoFit/>
          </a:bodyPr>
          <a:lstStyle/>
          <a:p>
            <a:pPr algn="l">
              <a:lnSpc>
                <a:spcPts val="3079"/>
              </a:lnSpc>
              <a:spcBef>
                <a:spcPct val="0"/>
              </a:spcBef>
            </a:pPr>
            <a:r>
              <a:rPr lang="en-US" sz="2199" spc="-21">
                <a:solidFill>
                  <a:srgbClr val="000000"/>
                </a:solidFill>
                <a:latin typeface="Assistant"/>
                <a:ea typeface="Assistant"/>
                <a:cs typeface="Assistant"/>
                <a:sym typeface="Assistant"/>
              </a:rPr>
              <a:t>Pa</a:t>
            </a:r>
            <a:r>
              <a:rPr lang="en-US" sz="2199" spc="-21">
                <a:solidFill>
                  <a:srgbClr val="000000"/>
                </a:solidFill>
                <a:latin typeface="Assistant"/>
                <a:ea typeface="Assistant"/>
                <a:cs typeface="Assistant"/>
                <a:sym typeface="Assistant"/>
              </a:rPr>
              <a:t>rallel computing significantly enhances execution speed and computational efficiency. Performance metrics such as speedup, efficiency, and scalability are essential for understanding and optimizing parallel programs. Proper task partitioning and thread management are key to achieving optimal performance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9088749">
            <a:off x="8076868" y="5782413"/>
            <a:ext cx="1345042" cy="1274427"/>
          </a:xfrm>
          <a:custGeom>
            <a:avLst/>
            <a:gdLst/>
            <a:ahLst/>
            <a:cxnLst/>
            <a:rect r="r" b="b" t="t" l="l"/>
            <a:pathLst>
              <a:path h="1274427" w="1345042">
                <a:moveTo>
                  <a:pt x="0" y="0"/>
                </a:moveTo>
                <a:lnTo>
                  <a:pt x="1345042" y="0"/>
                </a:lnTo>
                <a:lnTo>
                  <a:pt x="1345042" y="1274427"/>
                </a:lnTo>
                <a:lnTo>
                  <a:pt x="0" y="1274427"/>
                </a:lnTo>
                <a:lnTo>
                  <a:pt x="0" y="0"/>
                </a:lnTo>
                <a:close/>
              </a:path>
            </a:pathLst>
          </a:custGeom>
          <a:blipFill>
            <a:blip r:embed="rId2"/>
            <a:stretch>
              <a:fillRect l="0" t="0" r="0" b="0"/>
            </a:stretch>
          </a:blipFill>
        </p:spPr>
      </p:sp>
      <p:sp>
        <p:nvSpPr>
          <p:cNvPr name="Freeform 3" id="3"/>
          <p:cNvSpPr/>
          <p:nvPr/>
        </p:nvSpPr>
        <p:spPr>
          <a:xfrm flipH="false" flipV="false" rot="313119">
            <a:off x="6771182" y="-1515534"/>
            <a:ext cx="3740642" cy="3576989"/>
          </a:xfrm>
          <a:custGeom>
            <a:avLst/>
            <a:gdLst/>
            <a:ahLst/>
            <a:cxnLst/>
            <a:rect r="r" b="b" t="t" l="l"/>
            <a:pathLst>
              <a:path h="3576989" w="3740642">
                <a:moveTo>
                  <a:pt x="0" y="0"/>
                </a:moveTo>
                <a:lnTo>
                  <a:pt x="3740641" y="0"/>
                </a:lnTo>
                <a:lnTo>
                  <a:pt x="3740641" y="3576989"/>
                </a:lnTo>
                <a:lnTo>
                  <a:pt x="0" y="3576989"/>
                </a:lnTo>
                <a:lnTo>
                  <a:pt x="0" y="0"/>
                </a:lnTo>
                <a:close/>
              </a:path>
            </a:pathLst>
          </a:custGeom>
          <a:blipFill>
            <a:blip r:embed="rId3"/>
            <a:stretch>
              <a:fillRect l="0" t="0" r="0" b="0"/>
            </a:stretch>
          </a:blipFill>
        </p:spPr>
      </p:sp>
      <p:sp>
        <p:nvSpPr>
          <p:cNvPr name="Freeform 4" id="4"/>
          <p:cNvSpPr/>
          <p:nvPr/>
        </p:nvSpPr>
        <p:spPr>
          <a:xfrm flipH="false" flipV="false" rot="1627250">
            <a:off x="-1444747" y="4892345"/>
            <a:ext cx="4978439" cy="4430811"/>
          </a:xfrm>
          <a:custGeom>
            <a:avLst/>
            <a:gdLst/>
            <a:ahLst/>
            <a:cxnLst/>
            <a:rect r="r" b="b" t="t" l="l"/>
            <a:pathLst>
              <a:path h="4430811" w="4978439">
                <a:moveTo>
                  <a:pt x="0" y="0"/>
                </a:moveTo>
                <a:lnTo>
                  <a:pt x="4978439" y="0"/>
                </a:lnTo>
                <a:lnTo>
                  <a:pt x="4978439" y="4430811"/>
                </a:lnTo>
                <a:lnTo>
                  <a:pt x="0" y="4430811"/>
                </a:lnTo>
                <a:lnTo>
                  <a:pt x="0" y="0"/>
                </a:lnTo>
                <a:close/>
              </a:path>
            </a:pathLst>
          </a:custGeom>
          <a:blipFill>
            <a:blip r:embed="rId4"/>
            <a:stretch>
              <a:fillRect l="0" t="0" r="0" b="0"/>
            </a:stretch>
          </a:blipFill>
        </p:spPr>
      </p:sp>
      <p:sp>
        <p:nvSpPr>
          <p:cNvPr name="Freeform 5" id="5"/>
          <p:cNvSpPr/>
          <p:nvPr/>
        </p:nvSpPr>
        <p:spPr>
          <a:xfrm flipH="false" flipV="false" rot="6959566">
            <a:off x="-352005" y="326429"/>
            <a:ext cx="1805054" cy="1726083"/>
          </a:xfrm>
          <a:custGeom>
            <a:avLst/>
            <a:gdLst/>
            <a:ahLst/>
            <a:cxnLst/>
            <a:rect r="r" b="b" t="t" l="l"/>
            <a:pathLst>
              <a:path h="1726083" w="1805054">
                <a:moveTo>
                  <a:pt x="0" y="0"/>
                </a:moveTo>
                <a:lnTo>
                  <a:pt x="1805054" y="0"/>
                </a:lnTo>
                <a:lnTo>
                  <a:pt x="1805054" y="1726083"/>
                </a:lnTo>
                <a:lnTo>
                  <a:pt x="0" y="1726083"/>
                </a:lnTo>
                <a:lnTo>
                  <a:pt x="0" y="0"/>
                </a:lnTo>
                <a:close/>
              </a:path>
            </a:pathLst>
          </a:custGeom>
          <a:blipFill>
            <a:blip r:embed="rId3"/>
            <a:stretch>
              <a:fillRect l="0" t="0" r="0" b="0"/>
            </a:stretch>
          </a:blipFill>
        </p:spPr>
      </p:sp>
      <p:sp>
        <p:nvSpPr>
          <p:cNvPr name="TextBox 6" id="6"/>
          <p:cNvSpPr txBox="true"/>
          <p:nvPr/>
        </p:nvSpPr>
        <p:spPr>
          <a:xfrm rot="0">
            <a:off x="2374828" y="3182747"/>
            <a:ext cx="5325795" cy="959231"/>
          </a:xfrm>
          <a:prstGeom prst="rect">
            <a:avLst/>
          </a:prstGeom>
        </p:spPr>
        <p:txBody>
          <a:bodyPr anchor="t" rtlCol="false" tIns="0" lIns="0" bIns="0" rIns="0">
            <a:spAutoFit/>
          </a:bodyPr>
          <a:lstStyle/>
          <a:p>
            <a:pPr algn="l">
              <a:lnSpc>
                <a:spcPts val="7551"/>
              </a:lnSpc>
            </a:pPr>
            <a:r>
              <a:rPr lang="en-US" sz="6399" b="true">
                <a:solidFill>
                  <a:srgbClr val="731F7D"/>
                </a:solidFill>
                <a:latin typeface="HK Grotesk Bold"/>
                <a:ea typeface="HK Grotesk Bold"/>
                <a:cs typeface="HK Grotesk Bold"/>
                <a:sym typeface="HK Grotesk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DAG1xRZh8LE</dc:identifier>
  <dcterms:modified xsi:type="dcterms:W3CDTF">2011-08-01T06:04:30Z</dcterms:modified>
  <cp:revision>1</cp:revision>
  <dc:title>Purple and Black Simple Technology Keynote Presentation</dc:title>
</cp:coreProperties>
</file>