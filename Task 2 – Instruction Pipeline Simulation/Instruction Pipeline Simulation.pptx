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onymous Pro Bold" charset="1" panose="02060809030202000504"/>
      <p:regular r:id="rId16"/>
    </p:embeddedFont>
    <p:embeddedFont>
      <p:font typeface="Cousine" charset="1" panose="02070409020205020404"/>
      <p:regular r:id="rId17"/>
    </p:embeddedFont>
    <p:embeddedFont>
      <p:font typeface="Cousine Bold" charset="1" panose="02070709020205020404"/>
      <p:regular r:id="rId18"/>
    </p:embeddedFont>
    <p:embeddedFont>
      <p:font typeface="Anonymous Pro" charset="1" panose="020606090302020005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135508" y="9193555"/>
            <a:ext cx="1271608" cy="652980"/>
            <a:chOff x="0" y="0"/>
            <a:chExt cx="334909" cy="171978"/>
          </a:xfrm>
        </p:grpSpPr>
        <p:sp>
          <p:nvSpPr>
            <p:cNvPr name="Freeform 15" id="1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16" id="1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408934"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123917" y="9193555"/>
            <a:ext cx="755149" cy="652980"/>
            <a:chOff x="0" y="0"/>
            <a:chExt cx="198887" cy="171978"/>
          </a:xfrm>
        </p:grpSpPr>
        <p:sp>
          <p:nvSpPr>
            <p:cNvPr name="Freeform 21" id="2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22" id="2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1618155" y="4381330"/>
            <a:ext cx="15051690" cy="2712086"/>
          </a:xfrm>
          <a:prstGeom prst="rect">
            <a:avLst/>
          </a:prstGeom>
        </p:spPr>
        <p:txBody>
          <a:bodyPr anchor="t" rtlCol="false" tIns="0" lIns="0" bIns="0" rIns="0">
            <a:spAutoFit/>
          </a:bodyPr>
          <a:lstStyle/>
          <a:p>
            <a:pPr algn="ctr">
              <a:lnSpc>
                <a:spcPts val="10400"/>
              </a:lnSpc>
            </a:pPr>
            <a:r>
              <a:rPr lang="en-US" b="true" sz="10400" spc="-353">
                <a:solidFill>
                  <a:srgbClr val="0057CC"/>
                </a:solidFill>
                <a:latin typeface="Anonymous Pro Bold"/>
                <a:ea typeface="Anonymous Pro Bold"/>
                <a:cs typeface="Anonymous Pro Bold"/>
                <a:sym typeface="Anonymous Pro Bold"/>
              </a:rPr>
              <a:t> INSTRUCTION PIPELINING SIMULTION </a:t>
            </a:r>
          </a:p>
        </p:txBody>
      </p:sp>
      <p:sp>
        <p:nvSpPr>
          <p:cNvPr name="Freeform 26" id="26"/>
          <p:cNvSpPr/>
          <p:nvPr/>
        </p:nvSpPr>
        <p:spPr>
          <a:xfrm flipH="false" flipV="false" rot="0">
            <a:off x="13769461" y="7176790"/>
            <a:ext cx="765682" cy="1303792"/>
          </a:xfrm>
          <a:custGeom>
            <a:avLst/>
            <a:gdLst/>
            <a:ahLst/>
            <a:cxnLst/>
            <a:rect r="r" b="b" t="t" l="l"/>
            <a:pathLst>
              <a:path h="1303792" w="765682">
                <a:moveTo>
                  <a:pt x="0" y="0"/>
                </a:moveTo>
                <a:lnTo>
                  <a:pt x="765681" y="0"/>
                </a:lnTo>
                <a:lnTo>
                  <a:pt x="765681" y="1303792"/>
                </a:lnTo>
                <a:lnTo>
                  <a:pt x="0" y="13037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8082106" y="7535217"/>
            <a:ext cx="2123787" cy="586938"/>
          </a:xfrm>
          <a:custGeom>
            <a:avLst/>
            <a:gdLst/>
            <a:ahLst/>
            <a:cxnLst/>
            <a:rect r="r" b="b" t="t" l="l"/>
            <a:pathLst>
              <a:path h="586938" w="2123787">
                <a:moveTo>
                  <a:pt x="0" y="0"/>
                </a:moveTo>
                <a:lnTo>
                  <a:pt x="2123788" y="0"/>
                </a:lnTo>
                <a:lnTo>
                  <a:pt x="2123788" y="586938"/>
                </a:lnTo>
                <a:lnTo>
                  <a:pt x="0" y="58693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6352676" y="3606893"/>
            <a:ext cx="5582648" cy="520590"/>
          </a:xfrm>
          <a:prstGeom prst="rect">
            <a:avLst/>
          </a:prstGeom>
        </p:spPr>
        <p:txBody>
          <a:bodyPr anchor="t" rtlCol="false" tIns="0" lIns="0" bIns="0" rIns="0">
            <a:spAutoFit/>
          </a:bodyPr>
          <a:lstStyle/>
          <a:p>
            <a:pPr algn="ctr">
              <a:lnSpc>
                <a:spcPts val="3818"/>
              </a:lnSpc>
            </a:pPr>
            <a:r>
              <a:rPr lang="en-US" sz="3818">
                <a:solidFill>
                  <a:srgbClr val="000000"/>
                </a:solidFill>
                <a:latin typeface="Cousine"/>
                <a:ea typeface="Cousine"/>
                <a:cs typeface="Cousine"/>
                <a:sym typeface="Cousine"/>
              </a:rPr>
              <a:t>Intro</a:t>
            </a:r>
            <a:r>
              <a:rPr lang="en-US" sz="3818">
                <a:solidFill>
                  <a:srgbClr val="000000"/>
                </a:solidFill>
                <a:latin typeface="Cousine"/>
                <a:ea typeface="Cousine"/>
                <a:cs typeface="Cousine"/>
                <a:sym typeface="Cousine"/>
              </a:rPr>
              <a:t>duction to</a:t>
            </a:r>
          </a:p>
        </p:txBody>
      </p:sp>
      <p:sp>
        <p:nvSpPr>
          <p:cNvPr name="TextBox 29" id="29"/>
          <p:cNvSpPr txBox="true"/>
          <p:nvPr/>
        </p:nvSpPr>
        <p:spPr>
          <a:xfrm rot="0">
            <a:off x="584087" y="644177"/>
            <a:ext cx="8559913"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b="true">
                <a:solidFill>
                  <a:srgbClr val="000000"/>
                </a:solidFill>
                <a:latin typeface="Cousine Bold"/>
                <a:ea typeface="Cousine Bold"/>
                <a:cs typeface="Cousine Bold"/>
                <a:sym typeface="Cousine Bold"/>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2310814" y="4102411"/>
            <a:ext cx="5798369" cy="3088949"/>
          </a:xfrm>
          <a:custGeom>
            <a:avLst/>
            <a:gdLst/>
            <a:ahLst/>
            <a:cxnLst/>
            <a:rect r="r" b="b" t="t" l="l"/>
            <a:pathLst>
              <a:path h="3088949" w="5798369">
                <a:moveTo>
                  <a:pt x="0" y="0"/>
                </a:moveTo>
                <a:lnTo>
                  <a:pt x="5798370" y="0"/>
                </a:lnTo>
                <a:lnTo>
                  <a:pt x="5798370" y="3088950"/>
                </a:lnTo>
                <a:lnTo>
                  <a:pt x="0" y="30889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7468630" y="6645998"/>
            <a:ext cx="640554" cy="1090726"/>
          </a:xfrm>
          <a:custGeom>
            <a:avLst/>
            <a:gdLst/>
            <a:ahLst/>
            <a:cxnLst/>
            <a:rect r="r" b="b" t="t" l="l"/>
            <a:pathLst>
              <a:path h="1090726" w="640554">
                <a:moveTo>
                  <a:pt x="0" y="0"/>
                </a:moveTo>
                <a:lnTo>
                  <a:pt x="640554" y="0"/>
                </a:lnTo>
                <a:lnTo>
                  <a:pt x="640554" y="1090725"/>
                </a:lnTo>
                <a:lnTo>
                  <a:pt x="0" y="10907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2092743" y="3762832"/>
            <a:ext cx="1048895" cy="1018382"/>
          </a:xfrm>
          <a:custGeom>
            <a:avLst/>
            <a:gdLst/>
            <a:ahLst/>
            <a:cxnLst/>
            <a:rect r="r" b="b" t="t" l="l"/>
            <a:pathLst>
              <a:path h="1018382" w="1048895">
                <a:moveTo>
                  <a:pt x="0" y="0"/>
                </a:moveTo>
                <a:lnTo>
                  <a:pt x="1048894" y="0"/>
                </a:lnTo>
                <a:lnTo>
                  <a:pt x="1048894" y="1018382"/>
                </a:lnTo>
                <a:lnTo>
                  <a:pt x="0" y="10183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2442638" y="4910249"/>
            <a:ext cx="5534722" cy="1701835"/>
          </a:xfrm>
          <a:prstGeom prst="rect">
            <a:avLst/>
          </a:prstGeom>
        </p:spPr>
        <p:txBody>
          <a:bodyPr anchor="t" rtlCol="false" tIns="0" lIns="0" bIns="0" rIns="0">
            <a:spAutoFit/>
          </a:bodyPr>
          <a:lstStyle/>
          <a:p>
            <a:pPr algn="ctr">
              <a:lnSpc>
                <a:spcPts val="6307"/>
              </a:lnSpc>
            </a:pPr>
            <a:r>
              <a:rPr lang="en-US" b="true" sz="7420" spc="-252">
                <a:solidFill>
                  <a:srgbClr val="000000"/>
                </a:solidFill>
                <a:latin typeface="Anonymous Pro Bold"/>
                <a:ea typeface="Anonymous Pro Bold"/>
                <a:cs typeface="Anonymous Pro Bold"/>
                <a:sym typeface="Anonymous Pro Bold"/>
              </a:rPr>
              <a:t>PIPELINE STAGES</a:t>
            </a:r>
          </a:p>
        </p:txBody>
      </p:sp>
      <p:sp>
        <p:nvSpPr>
          <p:cNvPr name="TextBox 26" id="26"/>
          <p:cNvSpPr txBox="true"/>
          <p:nvPr/>
        </p:nvSpPr>
        <p:spPr>
          <a:xfrm rot="0">
            <a:off x="8855916" y="4195823"/>
            <a:ext cx="8403384" cy="2879163"/>
          </a:xfrm>
          <a:prstGeom prst="rect">
            <a:avLst/>
          </a:prstGeom>
        </p:spPr>
        <p:txBody>
          <a:bodyPr anchor="t" rtlCol="false" tIns="0" lIns="0" bIns="0" rIns="0">
            <a:spAutoFit/>
          </a:bodyPr>
          <a:lstStyle/>
          <a:p>
            <a:pPr algn="just">
              <a:lnSpc>
                <a:spcPts val="3235"/>
              </a:lnSpc>
            </a:pPr>
            <a:r>
              <a:rPr lang="en-US" sz="2588" b="true">
                <a:solidFill>
                  <a:srgbClr val="000000"/>
                </a:solidFill>
                <a:latin typeface="Cousine Bold"/>
                <a:ea typeface="Cousine Bold"/>
                <a:cs typeface="Cousine Bold"/>
                <a:sym typeface="Cousine Bold"/>
              </a:rPr>
              <a:t>The standard 5-stage pipeline includes:-</a:t>
            </a:r>
            <a:r>
              <a:rPr lang="en-US" sz="2588">
                <a:solidFill>
                  <a:srgbClr val="000000"/>
                </a:solidFill>
                <a:latin typeface="Cousine"/>
                <a:ea typeface="Cousine"/>
                <a:cs typeface="Cousine"/>
                <a:sym typeface="Cousine"/>
              </a:rPr>
              <a:t>   </a:t>
            </a:r>
          </a:p>
          <a:p>
            <a:pPr algn="just">
              <a:lnSpc>
                <a:spcPts val="3235"/>
              </a:lnSpc>
            </a:pPr>
          </a:p>
          <a:p>
            <a:pPr algn="just">
              <a:lnSpc>
                <a:spcPts val="3235"/>
              </a:lnSpc>
            </a:pPr>
            <a:r>
              <a:rPr lang="en-US" sz="2588">
                <a:solidFill>
                  <a:srgbClr val="000000"/>
                </a:solidFill>
                <a:latin typeface="Cousine"/>
                <a:ea typeface="Cousine"/>
                <a:cs typeface="Cousine"/>
                <a:sym typeface="Cousine"/>
              </a:rPr>
              <a:t> IF: Instruction Fetch </a:t>
            </a:r>
          </a:p>
          <a:p>
            <a:pPr algn="just">
              <a:lnSpc>
                <a:spcPts val="3235"/>
              </a:lnSpc>
            </a:pPr>
            <a:r>
              <a:rPr lang="en-US" sz="2588">
                <a:solidFill>
                  <a:srgbClr val="000000"/>
                </a:solidFill>
                <a:latin typeface="Cousine"/>
                <a:ea typeface="Cousine"/>
                <a:cs typeface="Cousine"/>
                <a:sym typeface="Cousine"/>
              </a:rPr>
              <a:t> ID: Instruction Decode</a:t>
            </a:r>
          </a:p>
          <a:p>
            <a:pPr algn="just">
              <a:lnSpc>
                <a:spcPts val="3235"/>
              </a:lnSpc>
            </a:pPr>
            <a:r>
              <a:rPr lang="en-US" sz="2588">
                <a:solidFill>
                  <a:srgbClr val="000000"/>
                </a:solidFill>
                <a:latin typeface="Cousine"/>
                <a:ea typeface="Cousine"/>
                <a:cs typeface="Cousine"/>
                <a:sym typeface="Cousine"/>
              </a:rPr>
              <a:t> EX: Execute </a:t>
            </a:r>
          </a:p>
          <a:p>
            <a:pPr algn="just">
              <a:lnSpc>
                <a:spcPts val="3235"/>
              </a:lnSpc>
            </a:pPr>
            <a:r>
              <a:rPr lang="en-US" sz="2588">
                <a:solidFill>
                  <a:srgbClr val="000000"/>
                </a:solidFill>
                <a:latin typeface="Cousine"/>
                <a:ea typeface="Cousine"/>
                <a:cs typeface="Cousine"/>
                <a:sym typeface="Cousine"/>
              </a:rPr>
              <a:t> MEM: Memory Access</a:t>
            </a:r>
          </a:p>
          <a:p>
            <a:pPr algn="just">
              <a:lnSpc>
                <a:spcPts val="3235"/>
              </a:lnSpc>
            </a:pPr>
            <a:r>
              <a:rPr lang="en-US" sz="2588">
                <a:solidFill>
                  <a:srgbClr val="000000"/>
                </a:solidFill>
                <a:latin typeface="Cousine"/>
                <a:ea typeface="Cousine"/>
                <a:cs typeface="Cousine"/>
                <a:sym typeface="Cousine"/>
              </a:rPr>
              <a:t> WB: Write Back</a:t>
            </a:r>
          </a:p>
        </p:txBody>
      </p:sp>
      <p:sp>
        <p:nvSpPr>
          <p:cNvPr name="TextBox 27" id="27"/>
          <p:cNvSpPr txBox="true"/>
          <p:nvPr/>
        </p:nvSpPr>
        <p:spPr>
          <a:xfrm rot="0">
            <a:off x="584087" y="644177"/>
            <a:ext cx="9149218"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28" id="28"/>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9" id="29"/>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0" id="30"/>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31" id="31"/>
          <p:cNvGrpSpPr/>
          <p:nvPr/>
        </p:nvGrpSpPr>
        <p:grpSpPr>
          <a:xfrm rot="0">
            <a:off x="2544931" y="9191611"/>
            <a:ext cx="1271608" cy="652980"/>
            <a:chOff x="0" y="0"/>
            <a:chExt cx="334909" cy="171978"/>
          </a:xfrm>
        </p:grpSpPr>
        <p:sp>
          <p:nvSpPr>
            <p:cNvPr name="Freeform 32" id="32"/>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33" id="33"/>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2759218" y="2700126"/>
            <a:ext cx="3616291" cy="1926497"/>
          </a:xfrm>
          <a:custGeom>
            <a:avLst/>
            <a:gdLst/>
            <a:ahLst/>
            <a:cxnLst/>
            <a:rect r="r" b="b" t="t" l="l"/>
            <a:pathLst>
              <a:path h="1926497" w="3616291">
                <a:moveTo>
                  <a:pt x="0" y="0"/>
                </a:moveTo>
                <a:lnTo>
                  <a:pt x="3616291" y="0"/>
                </a:lnTo>
                <a:lnTo>
                  <a:pt x="3616291" y="1926497"/>
                </a:lnTo>
                <a:lnTo>
                  <a:pt x="0" y="19264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2544931" y="2557416"/>
            <a:ext cx="596706" cy="579347"/>
          </a:xfrm>
          <a:custGeom>
            <a:avLst/>
            <a:gdLst/>
            <a:ahLst/>
            <a:cxnLst/>
            <a:rect r="r" b="b" t="t" l="l"/>
            <a:pathLst>
              <a:path h="579347" w="596706">
                <a:moveTo>
                  <a:pt x="0" y="0"/>
                </a:moveTo>
                <a:lnTo>
                  <a:pt x="596706" y="0"/>
                </a:lnTo>
                <a:lnTo>
                  <a:pt x="596706" y="579348"/>
                </a:lnTo>
                <a:lnTo>
                  <a:pt x="0" y="5793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2345752" y="3069482"/>
            <a:ext cx="4443224" cy="1368760"/>
          </a:xfrm>
          <a:prstGeom prst="rect">
            <a:avLst/>
          </a:prstGeom>
        </p:spPr>
        <p:txBody>
          <a:bodyPr anchor="t" rtlCol="false" tIns="0" lIns="0" bIns="0" rIns="0">
            <a:spAutoFit/>
          </a:bodyPr>
          <a:lstStyle/>
          <a:p>
            <a:pPr algn="ctr">
              <a:lnSpc>
                <a:spcPts val="5063"/>
              </a:lnSpc>
            </a:pPr>
            <a:r>
              <a:rPr lang="en-US" b="true" sz="5957" spc="-202">
                <a:solidFill>
                  <a:srgbClr val="000000"/>
                </a:solidFill>
                <a:latin typeface="Anonymous Pro Bold"/>
                <a:ea typeface="Anonymous Pro Bold"/>
                <a:cs typeface="Anonymous Pro Bold"/>
                <a:sym typeface="Anonymous Pro Bold"/>
              </a:rPr>
              <a:t> TYPES OF HAZARDS</a:t>
            </a:r>
          </a:p>
        </p:txBody>
      </p:sp>
      <p:sp>
        <p:nvSpPr>
          <p:cNvPr name="TextBox 25" id="25"/>
          <p:cNvSpPr txBox="true"/>
          <p:nvPr/>
        </p:nvSpPr>
        <p:spPr>
          <a:xfrm rot="0">
            <a:off x="1028700" y="5167417"/>
            <a:ext cx="15835692" cy="3466294"/>
          </a:xfrm>
          <a:prstGeom prst="rect">
            <a:avLst/>
          </a:prstGeom>
        </p:spPr>
        <p:txBody>
          <a:bodyPr anchor="t" rtlCol="false" tIns="0" lIns="0" bIns="0" rIns="0">
            <a:spAutoFit/>
          </a:bodyPr>
          <a:lstStyle/>
          <a:p>
            <a:pPr algn="just">
              <a:lnSpc>
                <a:spcPts val="3908"/>
              </a:lnSpc>
            </a:pPr>
            <a:r>
              <a:rPr lang="en-US" sz="3126">
                <a:solidFill>
                  <a:srgbClr val="000000"/>
                </a:solidFill>
                <a:latin typeface="Cousine"/>
                <a:ea typeface="Cousine"/>
                <a:cs typeface="Cousine"/>
                <a:sym typeface="Cousine"/>
              </a:rPr>
              <a:t>- RAW (Read After Write): Occurs when an instruction needs </a:t>
            </a:r>
          </a:p>
          <a:p>
            <a:pPr algn="just">
              <a:lnSpc>
                <a:spcPts val="3908"/>
              </a:lnSpc>
            </a:pPr>
            <a:r>
              <a:rPr lang="en-US" sz="3126">
                <a:solidFill>
                  <a:srgbClr val="000000"/>
                </a:solidFill>
                <a:latin typeface="Cousine"/>
                <a:ea typeface="Cousine"/>
                <a:cs typeface="Cousine"/>
                <a:sym typeface="Cousine"/>
              </a:rPr>
              <a:t>  data not yet written by a previous one.</a:t>
            </a:r>
          </a:p>
          <a:p>
            <a:pPr algn="just">
              <a:lnSpc>
                <a:spcPts val="3908"/>
              </a:lnSpc>
            </a:pPr>
            <a:r>
              <a:rPr lang="en-US" sz="3126">
                <a:solidFill>
                  <a:srgbClr val="000000"/>
                </a:solidFill>
                <a:latin typeface="Cousine"/>
                <a:ea typeface="Cousine"/>
                <a:cs typeface="Cousine"/>
                <a:sym typeface="Cousine"/>
              </a:rPr>
              <a:t>- WAR (Write After Read): Occurs when a write overtakes a read.</a:t>
            </a:r>
          </a:p>
          <a:p>
            <a:pPr algn="just">
              <a:lnSpc>
                <a:spcPts val="3908"/>
              </a:lnSpc>
            </a:pPr>
            <a:r>
              <a:rPr lang="en-US" sz="3126">
                <a:solidFill>
                  <a:srgbClr val="000000"/>
                </a:solidFill>
                <a:latin typeface="Cousine"/>
                <a:ea typeface="Cousine"/>
                <a:cs typeface="Cousine"/>
                <a:sym typeface="Cousine"/>
              </a:rPr>
              <a:t>- WAW (Write After Write): Occurs when two instructions write</a:t>
            </a:r>
          </a:p>
          <a:p>
            <a:pPr algn="just">
              <a:lnSpc>
                <a:spcPts val="3908"/>
              </a:lnSpc>
            </a:pPr>
            <a:r>
              <a:rPr lang="en-US" sz="3126">
                <a:solidFill>
                  <a:srgbClr val="000000"/>
                </a:solidFill>
                <a:latin typeface="Cousine"/>
                <a:ea typeface="Cousine"/>
                <a:cs typeface="Cousine"/>
                <a:sym typeface="Cousine"/>
              </a:rPr>
              <a:t>  to the same register. </a:t>
            </a:r>
          </a:p>
          <a:p>
            <a:pPr algn="just">
              <a:lnSpc>
                <a:spcPts val="3908"/>
              </a:lnSpc>
            </a:pPr>
            <a:r>
              <a:rPr lang="en-US" sz="3126">
                <a:solidFill>
                  <a:srgbClr val="000000"/>
                </a:solidFill>
                <a:latin typeface="Cousine"/>
                <a:ea typeface="Cousine"/>
                <a:cs typeface="Cousine"/>
                <a:sym typeface="Cousine"/>
              </a:rPr>
              <a:t>Most pipeline simulations focus on RAW hazards because they </a:t>
            </a:r>
          </a:p>
          <a:p>
            <a:pPr algn="just">
              <a:lnSpc>
                <a:spcPts val="3908"/>
              </a:lnSpc>
            </a:pPr>
            <a:r>
              <a:rPr lang="en-US" sz="3126">
                <a:solidFill>
                  <a:srgbClr val="000000"/>
                </a:solidFill>
                <a:latin typeface="Cousine"/>
                <a:ea typeface="Cousine"/>
                <a:cs typeface="Cousine"/>
                <a:sym typeface="Cousine"/>
              </a:rPr>
              <a:t>  are  the most common.</a:t>
            </a:r>
          </a:p>
        </p:txBody>
      </p:sp>
      <p:sp>
        <p:nvSpPr>
          <p:cNvPr name="TextBox 26" id="26"/>
          <p:cNvSpPr txBox="true"/>
          <p:nvPr/>
        </p:nvSpPr>
        <p:spPr>
          <a:xfrm rot="0">
            <a:off x="584087" y="644177"/>
            <a:ext cx="8745806"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27" id="27"/>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8" id="28"/>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9" id="29"/>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30" id="30"/>
          <p:cNvGrpSpPr/>
          <p:nvPr/>
        </p:nvGrpSpPr>
        <p:grpSpPr>
          <a:xfrm rot="0">
            <a:off x="4505775" y="9193555"/>
            <a:ext cx="1271608" cy="652980"/>
            <a:chOff x="0" y="0"/>
            <a:chExt cx="334909" cy="171978"/>
          </a:xfrm>
        </p:grpSpPr>
        <p:sp>
          <p:nvSpPr>
            <p:cNvPr name="Freeform 31" id="31"/>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32" id="32"/>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1857299" y="4190957"/>
            <a:ext cx="5155468" cy="2746458"/>
          </a:xfrm>
          <a:custGeom>
            <a:avLst/>
            <a:gdLst/>
            <a:ahLst/>
            <a:cxnLst/>
            <a:rect r="r" b="b" t="t" l="l"/>
            <a:pathLst>
              <a:path h="2746458" w="5155468">
                <a:moveTo>
                  <a:pt x="0" y="0"/>
                </a:moveTo>
                <a:lnTo>
                  <a:pt x="5155468" y="0"/>
                </a:lnTo>
                <a:lnTo>
                  <a:pt x="5155468" y="2746458"/>
                </a:lnTo>
                <a:lnTo>
                  <a:pt x="0" y="27464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3" id="23"/>
          <p:cNvGrpSpPr/>
          <p:nvPr/>
        </p:nvGrpSpPr>
        <p:grpSpPr>
          <a:xfrm rot="0">
            <a:off x="6136192" y="9193555"/>
            <a:ext cx="1271608" cy="652980"/>
            <a:chOff x="0" y="0"/>
            <a:chExt cx="334909" cy="171978"/>
          </a:xfrm>
        </p:grpSpPr>
        <p:sp>
          <p:nvSpPr>
            <p:cNvPr name="Freeform 24" id="24"/>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5" id="25"/>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11665311" y="3786720"/>
            <a:ext cx="832698" cy="808474"/>
          </a:xfrm>
          <a:custGeom>
            <a:avLst/>
            <a:gdLst/>
            <a:ahLst/>
            <a:cxnLst/>
            <a:rect r="r" b="b" t="t" l="l"/>
            <a:pathLst>
              <a:path h="808474" w="832698">
                <a:moveTo>
                  <a:pt x="0" y="0"/>
                </a:moveTo>
                <a:lnTo>
                  <a:pt x="832699" y="0"/>
                </a:lnTo>
                <a:lnTo>
                  <a:pt x="832699" y="808474"/>
                </a:lnTo>
                <a:lnTo>
                  <a:pt x="0" y="8084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7" id="27"/>
          <p:cNvSpPr txBox="true"/>
          <p:nvPr/>
        </p:nvSpPr>
        <p:spPr>
          <a:xfrm rot="0">
            <a:off x="11857299" y="4728514"/>
            <a:ext cx="5263340" cy="1560793"/>
          </a:xfrm>
          <a:prstGeom prst="rect">
            <a:avLst/>
          </a:prstGeom>
        </p:spPr>
        <p:txBody>
          <a:bodyPr anchor="t" rtlCol="false" tIns="0" lIns="0" bIns="0" rIns="0">
            <a:spAutoFit/>
          </a:bodyPr>
          <a:lstStyle/>
          <a:p>
            <a:pPr algn="ctr">
              <a:lnSpc>
                <a:spcPts val="5803"/>
              </a:lnSpc>
            </a:pPr>
            <a:r>
              <a:rPr lang="en-US" b="true" sz="6827" spc="-232">
                <a:solidFill>
                  <a:srgbClr val="000000"/>
                </a:solidFill>
                <a:latin typeface="Anonymous Pro Bold"/>
                <a:ea typeface="Anonymous Pro Bold"/>
                <a:cs typeface="Anonymous Pro Bold"/>
                <a:sym typeface="Anonymous Pro Bold"/>
              </a:rPr>
              <a:t>SIMULATION APPROACH</a:t>
            </a:r>
          </a:p>
        </p:txBody>
      </p:sp>
      <p:sp>
        <p:nvSpPr>
          <p:cNvPr name="TextBox 28" id="28"/>
          <p:cNvSpPr txBox="true"/>
          <p:nvPr/>
        </p:nvSpPr>
        <p:spPr>
          <a:xfrm rot="0">
            <a:off x="1331898" y="2948991"/>
            <a:ext cx="9684788" cy="5561330"/>
          </a:xfrm>
          <a:prstGeom prst="rect">
            <a:avLst/>
          </a:prstGeom>
        </p:spPr>
        <p:txBody>
          <a:bodyPr anchor="t" rtlCol="false" tIns="0" lIns="0" bIns="0" rIns="0">
            <a:spAutoFit/>
          </a:bodyPr>
          <a:lstStyle/>
          <a:p>
            <a:pPr algn="just">
              <a:lnSpc>
                <a:spcPts val="4000"/>
              </a:lnSpc>
            </a:pPr>
            <a:r>
              <a:rPr lang="en-US" sz="3200">
                <a:solidFill>
                  <a:srgbClr val="000000"/>
                </a:solidFill>
                <a:latin typeface="Cousine"/>
                <a:ea typeface="Cousine"/>
                <a:cs typeface="Cousine"/>
                <a:sym typeface="Cousine"/>
              </a:rPr>
              <a:t>Each instruction is represented with fields like operation, destination register, and source registers. A Pipeline class tracks instructions through the five stages cycle by cycle. Hazards are detected at the ID stage, and stalls are inserted if necessary. A Strategy Pattern can be used to switch between different hazard-handling methods (e.g., stall only vs. forwarding).</a:t>
            </a:r>
          </a:p>
        </p:txBody>
      </p:sp>
      <p:sp>
        <p:nvSpPr>
          <p:cNvPr name="TextBox 29" id="29"/>
          <p:cNvSpPr txBox="true"/>
          <p:nvPr/>
        </p:nvSpPr>
        <p:spPr>
          <a:xfrm rot="0">
            <a:off x="584087" y="644177"/>
            <a:ext cx="10194421"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2403281" y="4529599"/>
            <a:ext cx="5798369" cy="3088949"/>
          </a:xfrm>
          <a:custGeom>
            <a:avLst/>
            <a:gdLst/>
            <a:ahLst/>
            <a:cxnLst/>
            <a:rect r="r" b="b" t="t" l="l"/>
            <a:pathLst>
              <a:path h="3088949" w="5798369">
                <a:moveTo>
                  <a:pt x="0" y="0"/>
                </a:moveTo>
                <a:lnTo>
                  <a:pt x="5798369" y="0"/>
                </a:lnTo>
                <a:lnTo>
                  <a:pt x="5798369" y="3088950"/>
                </a:lnTo>
                <a:lnTo>
                  <a:pt x="0" y="30889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3" id="23"/>
          <p:cNvGrpSpPr/>
          <p:nvPr/>
        </p:nvGrpSpPr>
        <p:grpSpPr>
          <a:xfrm rot="0">
            <a:off x="8135656" y="9193555"/>
            <a:ext cx="1271608" cy="652980"/>
            <a:chOff x="0" y="0"/>
            <a:chExt cx="334909" cy="171978"/>
          </a:xfrm>
        </p:grpSpPr>
        <p:sp>
          <p:nvSpPr>
            <p:cNvPr name="Freeform 24" id="24"/>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5" id="25"/>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2122118" y="4161823"/>
            <a:ext cx="1019520" cy="989861"/>
          </a:xfrm>
          <a:custGeom>
            <a:avLst/>
            <a:gdLst/>
            <a:ahLst/>
            <a:cxnLst/>
            <a:rect r="r" b="b" t="t" l="l"/>
            <a:pathLst>
              <a:path h="989861" w="1019520">
                <a:moveTo>
                  <a:pt x="0" y="0"/>
                </a:moveTo>
                <a:lnTo>
                  <a:pt x="1019519" y="0"/>
                </a:lnTo>
                <a:lnTo>
                  <a:pt x="1019519" y="989861"/>
                </a:lnTo>
                <a:lnTo>
                  <a:pt x="0" y="9898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7" id="27"/>
          <p:cNvSpPr txBox="true"/>
          <p:nvPr/>
        </p:nvSpPr>
        <p:spPr>
          <a:xfrm rot="0">
            <a:off x="2670795" y="5087760"/>
            <a:ext cx="5263340" cy="2054961"/>
          </a:xfrm>
          <a:prstGeom prst="rect">
            <a:avLst/>
          </a:prstGeom>
        </p:spPr>
        <p:txBody>
          <a:bodyPr anchor="t" rtlCol="false" tIns="0" lIns="0" bIns="0" rIns="0">
            <a:spAutoFit/>
          </a:bodyPr>
          <a:lstStyle/>
          <a:p>
            <a:pPr algn="ctr">
              <a:lnSpc>
                <a:spcPts val="5208"/>
              </a:lnSpc>
            </a:pPr>
            <a:r>
              <a:rPr lang="en-US" b="true" sz="6127" spc="-208">
                <a:solidFill>
                  <a:srgbClr val="000000"/>
                </a:solidFill>
                <a:latin typeface="Anonymous Pro Bold"/>
                <a:ea typeface="Anonymous Pro Bold"/>
                <a:cs typeface="Anonymous Pro Bold"/>
                <a:sym typeface="Anonymous Pro Bold"/>
              </a:rPr>
              <a:t> EXAMPLE INSTRUCTION SEQUENCE</a:t>
            </a:r>
          </a:p>
        </p:txBody>
      </p:sp>
      <p:sp>
        <p:nvSpPr>
          <p:cNvPr name="TextBox 28" id="28"/>
          <p:cNvSpPr txBox="true"/>
          <p:nvPr/>
        </p:nvSpPr>
        <p:spPr>
          <a:xfrm rot="0">
            <a:off x="9144000" y="4014819"/>
            <a:ext cx="7994641" cy="3962717"/>
          </a:xfrm>
          <a:prstGeom prst="rect">
            <a:avLst/>
          </a:prstGeom>
        </p:spPr>
        <p:txBody>
          <a:bodyPr anchor="t" rtlCol="false" tIns="0" lIns="0" bIns="0" rIns="0">
            <a:spAutoFit/>
          </a:bodyPr>
          <a:lstStyle/>
          <a:p>
            <a:pPr algn="just">
              <a:lnSpc>
                <a:spcPts val="4500"/>
              </a:lnSpc>
            </a:pPr>
            <a:r>
              <a:rPr lang="en-US" sz="3600">
                <a:solidFill>
                  <a:srgbClr val="000000"/>
                </a:solidFill>
                <a:latin typeface="Cousine"/>
                <a:ea typeface="Cousine"/>
                <a:cs typeface="Cousine"/>
                <a:sym typeface="Cousine"/>
              </a:rPr>
              <a:t>1. LW r1, 0(r0) </a:t>
            </a:r>
          </a:p>
          <a:p>
            <a:pPr algn="just">
              <a:lnSpc>
                <a:spcPts val="4500"/>
              </a:lnSpc>
            </a:pPr>
            <a:r>
              <a:rPr lang="en-US" sz="3600">
                <a:solidFill>
                  <a:srgbClr val="000000"/>
                </a:solidFill>
                <a:latin typeface="Cousine"/>
                <a:ea typeface="Cousine"/>
                <a:cs typeface="Cousine"/>
                <a:sym typeface="Cousine"/>
              </a:rPr>
              <a:t>2. ADD r2, r1, r3 </a:t>
            </a:r>
          </a:p>
          <a:p>
            <a:pPr algn="just">
              <a:lnSpc>
                <a:spcPts val="4500"/>
              </a:lnSpc>
            </a:pPr>
            <a:r>
              <a:rPr lang="en-US" sz="3600">
                <a:solidFill>
                  <a:srgbClr val="000000"/>
                </a:solidFill>
                <a:latin typeface="Cousine"/>
                <a:ea typeface="Cousine"/>
                <a:cs typeface="Cousine"/>
                <a:sym typeface="Cousine"/>
              </a:rPr>
              <a:t>3. MUL r4, r2, r5 </a:t>
            </a:r>
          </a:p>
          <a:p>
            <a:pPr algn="just">
              <a:lnSpc>
                <a:spcPts val="4500"/>
              </a:lnSpc>
            </a:pPr>
            <a:r>
              <a:rPr lang="en-US" sz="3600">
                <a:solidFill>
                  <a:srgbClr val="000000"/>
                </a:solidFill>
                <a:latin typeface="Cousine"/>
                <a:ea typeface="Cousine"/>
                <a:cs typeface="Cousine"/>
                <a:sym typeface="Cousine"/>
              </a:rPr>
              <a:t>4. ADD r6, r4, r7 </a:t>
            </a:r>
          </a:p>
          <a:p>
            <a:pPr algn="just">
              <a:lnSpc>
                <a:spcPts val="4500"/>
              </a:lnSpc>
            </a:pPr>
            <a:r>
              <a:rPr lang="en-US" sz="3600">
                <a:solidFill>
                  <a:srgbClr val="000000"/>
                </a:solidFill>
                <a:latin typeface="Cousine"/>
                <a:ea typeface="Cousine"/>
                <a:cs typeface="Cousine"/>
                <a:sym typeface="Cousine"/>
              </a:rPr>
              <a:t>5. SW r6, 4(r0)</a:t>
            </a:r>
          </a:p>
          <a:p>
            <a:pPr algn="just">
              <a:lnSpc>
                <a:spcPts val="2875"/>
              </a:lnSpc>
            </a:pPr>
            <a:r>
              <a:rPr lang="en-US" sz="2300" b="true">
                <a:solidFill>
                  <a:srgbClr val="000000"/>
                </a:solidFill>
                <a:latin typeface="Cousine Bold"/>
                <a:ea typeface="Cousine Bold"/>
                <a:cs typeface="Cousine Bold"/>
                <a:sym typeface="Cousine Bold"/>
              </a:rPr>
              <a:t>These instructions include RAW dependencies that cause stalls, especially after load instructions.</a:t>
            </a:r>
          </a:p>
        </p:txBody>
      </p:sp>
      <p:sp>
        <p:nvSpPr>
          <p:cNvPr name="TextBox 29" id="29"/>
          <p:cNvSpPr txBox="true"/>
          <p:nvPr/>
        </p:nvSpPr>
        <p:spPr>
          <a:xfrm rot="0">
            <a:off x="584087" y="644177"/>
            <a:ext cx="8823176"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0246420"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584087" y="644177"/>
            <a:ext cx="9094207"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26" id="26"/>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7" id="27"/>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8" id="28"/>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Freeform 29" id="29"/>
          <p:cNvSpPr/>
          <p:nvPr/>
        </p:nvSpPr>
        <p:spPr>
          <a:xfrm flipH="false" flipV="false" rot="0">
            <a:off x="3335828" y="5596930"/>
            <a:ext cx="11961364" cy="2588004"/>
          </a:xfrm>
          <a:custGeom>
            <a:avLst/>
            <a:gdLst/>
            <a:ahLst/>
            <a:cxnLst/>
            <a:rect r="r" b="b" t="t" l="l"/>
            <a:pathLst>
              <a:path h="2588004" w="11961364">
                <a:moveTo>
                  <a:pt x="0" y="0"/>
                </a:moveTo>
                <a:lnTo>
                  <a:pt x="11961364" y="0"/>
                </a:lnTo>
                <a:lnTo>
                  <a:pt x="11961364" y="2588004"/>
                </a:lnTo>
                <a:lnTo>
                  <a:pt x="0" y="25880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30" id="30"/>
          <p:cNvSpPr txBox="true"/>
          <p:nvPr/>
        </p:nvSpPr>
        <p:spPr>
          <a:xfrm rot="0">
            <a:off x="4576063" y="6202974"/>
            <a:ext cx="2540551"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Policy</a:t>
            </a:r>
          </a:p>
        </p:txBody>
      </p:sp>
      <p:sp>
        <p:nvSpPr>
          <p:cNvPr name="TextBox 31" id="31"/>
          <p:cNvSpPr txBox="true"/>
          <p:nvPr/>
        </p:nvSpPr>
        <p:spPr>
          <a:xfrm rot="0">
            <a:off x="7156797"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 Total Cycles</a:t>
            </a:r>
          </a:p>
        </p:txBody>
      </p:sp>
      <p:sp>
        <p:nvSpPr>
          <p:cNvPr name="TextBox 32" id="32"/>
          <p:cNvSpPr txBox="true"/>
          <p:nvPr/>
        </p:nvSpPr>
        <p:spPr>
          <a:xfrm rot="0">
            <a:off x="11096222"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Stalls</a:t>
            </a:r>
          </a:p>
        </p:txBody>
      </p:sp>
      <p:sp>
        <p:nvSpPr>
          <p:cNvPr name="TextBox 33" id="33"/>
          <p:cNvSpPr txBox="true"/>
          <p:nvPr/>
        </p:nvSpPr>
        <p:spPr>
          <a:xfrm rot="0">
            <a:off x="13510701"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IPC</a:t>
            </a:r>
          </a:p>
        </p:txBody>
      </p:sp>
      <p:sp>
        <p:nvSpPr>
          <p:cNvPr name="TextBox 34" id="34"/>
          <p:cNvSpPr txBox="true"/>
          <p:nvPr/>
        </p:nvSpPr>
        <p:spPr>
          <a:xfrm rot="0">
            <a:off x="4402194"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 Stall Only </a:t>
            </a:r>
          </a:p>
        </p:txBody>
      </p:sp>
      <p:sp>
        <p:nvSpPr>
          <p:cNvPr name="TextBox 35" id="35"/>
          <p:cNvSpPr txBox="true"/>
          <p:nvPr/>
        </p:nvSpPr>
        <p:spPr>
          <a:xfrm rot="0">
            <a:off x="7156797"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13</a:t>
            </a:r>
          </a:p>
        </p:txBody>
      </p:sp>
      <p:sp>
        <p:nvSpPr>
          <p:cNvPr name="TextBox 36" id="36"/>
          <p:cNvSpPr txBox="true"/>
          <p:nvPr/>
        </p:nvSpPr>
        <p:spPr>
          <a:xfrm rot="0">
            <a:off x="10426469"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3</a:t>
            </a:r>
          </a:p>
        </p:txBody>
      </p:sp>
      <p:sp>
        <p:nvSpPr>
          <p:cNvPr name="TextBox 37" id="37"/>
          <p:cNvSpPr txBox="true"/>
          <p:nvPr/>
        </p:nvSpPr>
        <p:spPr>
          <a:xfrm rot="0">
            <a:off x="12566594"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0.38</a:t>
            </a:r>
          </a:p>
        </p:txBody>
      </p:sp>
      <p:sp>
        <p:nvSpPr>
          <p:cNvPr name="Freeform 38" id="38"/>
          <p:cNvSpPr/>
          <p:nvPr/>
        </p:nvSpPr>
        <p:spPr>
          <a:xfrm flipH="false" flipV="false" rot="0">
            <a:off x="6769972" y="2663291"/>
            <a:ext cx="4748056" cy="2529419"/>
          </a:xfrm>
          <a:custGeom>
            <a:avLst/>
            <a:gdLst/>
            <a:ahLst/>
            <a:cxnLst/>
            <a:rect r="r" b="b" t="t" l="l"/>
            <a:pathLst>
              <a:path h="2529419" w="4748056">
                <a:moveTo>
                  <a:pt x="0" y="0"/>
                </a:moveTo>
                <a:lnTo>
                  <a:pt x="4748056" y="0"/>
                </a:lnTo>
                <a:lnTo>
                  <a:pt x="4748056" y="2529418"/>
                </a:lnTo>
                <a:lnTo>
                  <a:pt x="0" y="25294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9" id="39"/>
          <p:cNvSpPr txBox="true"/>
          <p:nvPr/>
        </p:nvSpPr>
        <p:spPr>
          <a:xfrm rot="0">
            <a:off x="6552621" y="3296492"/>
            <a:ext cx="5182757" cy="1396366"/>
          </a:xfrm>
          <a:prstGeom prst="rect">
            <a:avLst/>
          </a:prstGeom>
        </p:spPr>
        <p:txBody>
          <a:bodyPr anchor="t" rtlCol="false" tIns="0" lIns="0" bIns="0" rIns="0">
            <a:spAutoFit/>
          </a:bodyPr>
          <a:lstStyle/>
          <a:p>
            <a:pPr algn="ctr">
              <a:lnSpc>
                <a:spcPts val="3570"/>
              </a:lnSpc>
            </a:pPr>
            <a:r>
              <a:rPr lang="en-US" b="true" sz="4200" spc="-142">
                <a:solidFill>
                  <a:srgbClr val="000000"/>
                </a:solidFill>
                <a:latin typeface="Anonymous Pro Bold"/>
                <a:ea typeface="Anonymous Pro Bold"/>
                <a:cs typeface="Anonymous Pro Bold"/>
                <a:sym typeface="Anonymous Pro Bold"/>
              </a:rPr>
              <a:t> SIMULATION RESULTS – STALL ONLY</a:t>
            </a:r>
          </a:p>
        </p:txBody>
      </p:sp>
      <p:sp>
        <p:nvSpPr>
          <p:cNvPr name="Freeform 40" id="40"/>
          <p:cNvSpPr/>
          <p:nvPr/>
        </p:nvSpPr>
        <p:spPr>
          <a:xfrm flipH="false" flipV="false" rot="0">
            <a:off x="6456734" y="2483445"/>
            <a:ext cx="700063" cy="679697"/>
          </a:xfrm>
          <a:custGeom>
            <a:avLst/>
            <a:gdLst/>
            <a:ahLst/>
            <a:cxnLst/>
            <a:rect r="r" b="b" t="t" l="l"/>
            <a:pathLst>
              <a:path h="679697" w="700063">
                <a:moveTo>
                  <a:pt x="0" y="0"/>
                </a:moveTo>
                <a:lnTo>
                  <a:pt x="700063" y="0"/>
                </a:lnTo>
                <a:lnTo>
                  <a:pt x="700063" y="679697"/>
                </a:lnTo>
                <a:lnTo>
                  <a:pt x="0" y="6796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1930790"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584087" y="644177"/>
            <a:ext cx="9094207"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26" id="26"/>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7" id="27"/>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8" id="28"/>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Freeform 29" id="29"/>
          <p:cNvSpPr/>
          <p:nvPr/>
        </p:nvSpPr>
        <p:spPr>
          <a:xfrm flipH="false" flipV="false" rot="0">
            <a:off x="3335828" y="5596930"/>
            <a:ext cx="11961364" cy="2588004"/>
          </a:xfrm>
          <a:custGeom>
            <a:avLst/>
            <a:gdLst/>
            <a:ahLst/>
            <a:cxnLst/>
            <a:rect r="r" b="b" t="t" l="l"/>
            <a:pathLst>
              <a:path h="2588004" w="11961364">
                <a:moveTo>
                  <a:pt x="0" y="0"/>
                </a:moveTo>
                <a:lnTo>
                  <a:pt x="11961364" y="0"/>
                </a:lnTo>
                <a:lnTo>
                  <a:pt x="11961364" y="2588004"/>
                </a:lnTo>
                <a:lnTo>
                  <a:pt x="0" y="25880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30" id="30"/>
          <p:cNvSpPr txBox="true"/>
          <p:nvPr/>
        </p:nvSpPr>
        <p:spPr>
          <a:xfrm rot="0">
            <a:off x="4576063" y="6202974"/>
            <a:ext cx="2540551"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Policy</a:t>
            </a:r>
          </a:p>
        </p:txBody>
      </p:sp>
      <p:sp>
        <p:nvSpPr>
          <p:cNvPr name="TextBox 31" id="31"/>
          <p:cNvSpPr txBox="true"/>
          <p:nvPr/>
        </p:nvSpPr>
        <p:spPr>
          <a:xfrm rot="0">
            <a:off x="7156797"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 Total Cycles</a:t>
            </a:r>
          </a:p>
        </p:txBody>
      </p:sp>
      <p:sp>
        <p:nvSpPr>
          <p:cNvPr name="TextBox 32" id="32"/>
          <p:cNvSpPr txBox="true"/>
          <p:nvPr/>
        </p:nvSpPr>
        <p:spPr>
          <a:xfrm rot="0">
            <a:off x="11096222"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Stalls</a:t>
            </a:r>
          </a:p>
        </p:txBody>
      </p:sp>
      <p:sp>
        <p:nvSpPr>
          <p:cNvPr name="TextBox 33" id="33"/>
          <p:cNvSpPr txBox="true"/>
          <p:nvPr/>
        </p:nvSpPr>
        <p:spPr>
          <a:xfrm rot="0">
            <a:off x="13510701" y="6202974"/>
            <a:ext cx="3502065" cy="547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Anonymous Pro Bold"/>
                <a:ea typeface="Anonymous Pro Bold"/>
                <a:cs typeface="Anonymous Pro Bold"/>
                <a:sym typeface="Anonymous Pro Bold"/>
              </a:rPr>
              <a:t>IPC</a:t>
            </a:r>
          </a:p>
        </p:txBody>
      </p:sp>
      <p:sp>
        <p:nvSpPr>
          <p:cNvPr name="TextBox 34" id="34"/>
          <p:cNvSpPr txBox="true"/>
          <p:nvPr/>
        </p:nvSpPr>
        <p:spPr>
          <a:xfrm rot="0">
            <a:off x="4402194"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Forwarding</a:t>
            </a:r>
          </a:p>
        </p:txBody>
      </p:sp>
      <p:sp>
        <p:nvSpPr>
          <p:cNvPr name="TextBox 35" id="35"/>
          <p:cNvSpPr txBox="true"/>
          <p:nvPr/>
        </p:nvSpPr>
        <p:spPr>
          <a:xfrm rot="0">
            <a:off x="7156797"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10</a:t>
            </a:r>
          </a:p>
        </p:txBody>
      </p:sp>
      <p:sp>
        <p:nvSpPr>
          <p:cNvPr name="TextBox 36" id="36"/>
          <p:cNvSpPr txBox="true"/>
          <p:nvPr/>
        </p:nvSpPr>
        <p:spPr>
          <a:xfrm rot="0">
            <a:off x="10426469"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1</a:t>
            </a:r>
          </a:p>
        </p:txBody>
      </p:sp>
      <p:sp>
        <p:nvSpPr>
          <p:cNvPr name="TextBox 37" id="37"/>
          <p:cNvSpPr txBox="true"/>
          <p:nvPr/>
        </p:nvSpPr>
        <p:spPr>
          <a:xfrm rot="0">
            <a:off x="12566594" y="6940844"/>
            <a:ext cx="2540551" cy="547370"/>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Anonymous Pro"/>
                <a:ea typeface="Anonymous Pro"/>
                <a:cs typeface="Anonymous Pro"/>
                <a:sym typeface="Anonymous Pro"/>
              </a:rPr>
              <a:t>0.5</a:t>
            </a:r>
          </a:p>
        </p:txBody>
      </p:sp>
      <p:sp>
        <p:nvSpPr>
          <p:cNvPr name="Freeform 38" id="38"/>
          <p:cNvSpPr/>
          <p:nvPr/>
        </p:nvSpPr>
        <p:spPr>
          <a:xfrm flipH="false" flipV="false" rot="0">
            <a:off x="6769972" y="2663291"/>
            <a:ext cx="4748056" cy="2529419"/>
          </a:xfrm>
          <a:custGeom>
            <a:avLst/>
            <a:gdLst/>
            <a:ahLst/>
            <a:cxnLst/>
            <a:rect r="r" b="b" t="t" l="l"/>
            <a:pathLst>
              <a:path h="2529419" w="4748056">
                <a:moveTo>
                  <a:pt x="0" y="0"/>
                </a:moveTo>
                <a:lnTo>
                  <a:pt x="4748056" y="0"/>
                </a:lnTo>
                <a:lnTo>
                  <a:pt x="4748056" y="2529418"/>
                </a:lnTo>
                <a:lnTo>
                  <a:pt x="0" y="25294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9" id="39"/>
          <p:cNvSpPr txBox="true"/>
          <p:nvPr/>
        </p:nvSpPr>
        <p:spPr>
          <a:xfrm rot="0">
            <a:off x="6830367" y="3296492"/>
            <a:ext cx="4687661" cy="1396366"/>
          </a:xfrm>
          <a:prstGeom prst="rect">
            <a:avLst/>
          </a:prstGeom>
        </p:spPr>
        <p:txBody>
          <a:bodyPr anchor="t" rtlCol="false" tIns="0" lIns="0" bIns="0" rIns="0">
            <a:spAutoFit/>
          </a:bodyPr>
          <a:lstStyle/>
          <a:p>
            <a:pPr algn="ctr">
              <a:lnSpc>
                <a:spcPts val="3570"/>
              </a:lnSpc>
            </a:pPr>
            <a:r>
              <a:rPr lang="en-US" b="true" sz="4200" spc="-142">
                <a:solidFill>
                  <a:srgbClr val="000000"/>
                </a:solidFill>
                <a:latin typeface="Anonymous Pro Bold"/>
                <a:ea typeface="Anonymous Pro Bold"/>
                <a:cs typeface="Anonymous Pro Bold"/>
                <a:sym typeface="Anonymous Pro Bold"/>
              </a:rPr>
              <a:t>SIMULATION RESULTS – WITH FORWARDING</a:t>
            </a:r>
          </a:p>
        </p:txBody>
      </p:sp>
      <p:sp>
        <p:nvSpPr>
          <p:cNvPr name="Freeform 40" id="40"/>
          <p:cNvSpPr/>
          <p:nvPr/>
        </p:nvSpPr>
        <p:spPr>
          <a:xfrm flipH="false" flipV="false" rot="0">
            <a:off x="6456734" y="2483445"/>
            <a:ext cx="700063" cy="679697"/>
          </a:xfrm>
          <a:custGeom>
            <a:avLst/>
            <a:gdLst/>
            <a:ahLst/>
            <a:cxnLst/>
            <a:rect r="r" b="b" t="t" l="l"/>
            <a:pathLst>
              <a:path h="679697" w="700063">
                <a:moveTo>
                  <a:pt x="0" y="0"/>
                </a:moveTo>
                <a:lnTo>
                  <a:pt x="700063" y="0"/>
                </a:lnTo>
                <a:lnTo>
                  <a:pt x="700063" y="679697"/>
                </a:lnTo>
                <a:lnTo>
                  <a:pt x="0" y="6796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3220779"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4013746" y="3815663"/>
            <a:ext cx="7315200" cy="1582743"/>
          </a:xfrm>
          <a:custGeom>
            <a:avLst/>
            <a:gdLst/>
            <a:ahLst/>
            <a:cxnLst/>
            <a:rect r="r" b="b" t="t" l="l"/>
            <a:pathLst>
              <a:path h="1582743" w="7315200">
                <a:moveTo>
                  <a:pt x="0" y="0"/>
                </a:moveTo>
                <a:lnTo>
                  <a:pt x="7315200" y="0"/>
                </a:lnTo>
                <a:lnTo>
                  <a:pt x="7315200" y="1582744"/>
                </a:lnTo>
                <a:lnTo>
                  <a:pt x="0" y="15827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26" id="26"/>
          <p:cNvSpPr txBox="true"/>
          <p:nvPr/>
        </p:nvSpPr>
        <p:spPr>
          <a:xfrm rot="0">
            <a:off x="4196359" y="4367000"/>
            <a:ext cx="6949975" cy="648649"/>
          </a:xfrm>
          <a:prstGeom prst="rect">
            <a:avLst/>
          </a:prstGeom>
        </p:spPr>
        <p:txBody>
          <a:bodyPr anchor="t" rtlCol="false" tIns="0" lIns="0" bIns="0" rIns="0">
            <a:spAutoFit/>
          </a:bodyPr>
          <a:lstStyle/>
          <a:p>
            <a:pPr algn="ctr">
              <a:lnSpc>
                <a:spcPts val="4571"/>
              </a:lnSpc>
            </a:pPr>
            <a:r>
              <a:rPr lang="en-US" b="true" sz="5378" spc="-182">
                <a:solidFill>
                  <a:srgbClr val="000000"/>
                </a:solidFill>
                <a:latin typeface="Anonymous Pro Bold"/>
                <a:ea typeface="Anonymous Pro Bold"/>
                <a:cs typeface="Anonymous Pro Bold"/>
                <a:sym typeface="Anonymous Pro Bold"/>
              </a:rPr>
              <a:t>ANALYSIS</a:t>
            </a:r>
          </a:p>
        </p:txBody>
      </p:sp>
      <p:sp>
        <p:nvSpPr>
          <p:cNvPr name="Freeform 27" id="27"/>
          <p:cNvSpPr/>
          <p:nvPr/>
        </p:nvSpPr>
        <p:spPr>
          <a:xfrm flipH="false" flipV="false" rot="0">
            <a:off x="3485004" y="3477608"/>
            <a:ext cx="1019520" cy="989861"/>
          </a:xfrm>
          <a:custGeom>
            <a:avLst/>
            <a:gdLst/>
            <a:ahLst/>
            <a:cxnLst/>
            <a:rect r="r" b="b" t="t" l="l"/>
            <a:pathLst>
              <a:path h="989861" w="1019520">
                <a:moveTo>
                  <a:pt x="0" y="0"/>
                </a:moveTo>
                <a:lnTo>
                  <a:pt x="1019520" y="0"/>
                </a:lnTo>
                <a:lnTo>
                  <a:pt x="1019520" y="989861"/>
                </a:lnTo>
                <a:lnTo>
                  <a:pt x="0" y="9898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8" id="28"/>
          <p:cNvSpPr/>
          <p:nvPr/>
        </p:nvSpPr>
        <p:spPr>
          <a:xfrm flipH="false" flipV="false" rot="0">
            <a:off x="13439072" y="2958249"/>
            <a:ext cx="2640953" cy="4114800"/>
          </a:xfrm>
          <a:custGeom>
            <a:avLst/>
            <a:gdLst/>
            <a:ahLst/>
            <a:cxnLst/>
            <a:rect r="r" b="b" t="t" l="l"/>
            <a:pathLst>
              <a:path h="4114800" w="2640953">
                <a:moveTo>
                  <a:pt x="0" y="0"/>
                </a:moveTo>
                <a:lnTo>
                  <a:pt x="2640953" y="0"/>
                </a:lnTo>
                <a:lnTo>
                  <a:pt x="2640953"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9" id="29"/>
          <p:cNvSpPr txBox="true"/>
          <p:nvPr/>
        </p:nvSpPr>
        <p:spPr>
          <a:xfrm rot="0">
            <a:off x="2276721" y="5836557"/>
            <a:ext cx="10789250" cy="3068320"/>
          </a:xfrm>
          <a:prstGeom prst="rect">
            <a:avLst/>
          </a:prstGeom>
        </p:spPr>
        <p:txBody>
          <a:bodyPr anchor="t" rtlCol="false" tIns="0" lIns="0" bIns="0" rIns="0">
            <a:spAutoFit/>
          </a:bodyPr>
          <a:lstStyle/>
          <a:p>
            <a:pPr algn="just">
              <a:lnSpc>
                <a:spcPts val="3499"/>
              </a:lnSpc>
            </a:pPr>
            <a:r>
              <a:rPr lang="en-US" sz="2799">
                <a:solidFill>
                  <a:srgbClr val="000000"/>
                </a:solidFill>
                <a:latin typeface="Cousine"/>
                <a:ea typeface="Cousine"/>
                <a:cs typeface="Cousine"/>
                <a:sym typeface="Cousine"/>
              </a:rPr>
              <a:t>The simulation shows that pipeline stalls occur mainly due to RAW hazards, especially load-use dependencies. Forwarding significantly reduces the number of stalls and increases IPC, but cannot eliminate all hazards. The results highlight the importance of hazard detection and data forwarding mechanisms in pipeline design</a:t>
            </a:r>
          </a:p>
        </p:txBody>
      </p:sp>
      <p:sp>
        <p:nvSpPr>
          <p:cNvPr name="TextBox 30" id="30"/>
          <p:cNvSpPr txBox="true"/>
          <p:nvPr/>
        </p:nvSpPr>
        <p:spPr>
          <a:xfrm rot="0">
            <a:off x="584087" y="644177"/>
            <a:ext cx="10241969"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31" id="31"/>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2" id="32"/>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3" id="33"/>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4677820"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1312654" y="3141513"/>
            <a:ext cx="5027291" cy="2678175"/>
          </a:xfrm>
          <a:custGeom>
            <a:avLst/>
            <a:gdLst/>
            <a:ahLst/>
            <a:cxnLst/>
            <a:rect r="r" b="b" t="t" l="l"/>
            <a:pathLst>
              <a:path h="2678175" w="5027291">
                <a:moveTo>
                  <a:pt x="0" y="0"/>
                </a:moveTo>
                <a:lnTo>
                  <a:pt x="5027291" y="0"/>
                </a:lnTo>
                <a:lnTo>
                  <a:pt x="5027291" y="2678175"/>
                </a:lnTo>
                <a:lnTo>
                  <a:pt x="0" y="26781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6" id="26"/>
          <p:cNvSpPr txBox="true"/>
          <p:nvPr/>
        </p:nvSpPr>
        <p:spPr>
          <a:xfrm rot="0">
            <a:off x="1713635" y="3800040"/>
            <a:ext cx="4225328" cy="1494470"/>
          </a:xfrm>
          <a:prstGeom prst="rect">
            <a:avLst/>
          </a:prstGeom>
        </p:spPr>
        <p:txBody>
          <a:bodyPr anchor="t" rtlCol="false" tIns="0" lIns="0" bIns="0" rIns="0">
            <a:spAutoFit/>
          </a:bodyPr>
          <a:lstStyle/>
          <a:p>
            <a:pPr algn="ctr">
              <a:lnSpc>
                <a:spcPts val="3806"/>
              </a:lnSpc>
            </a:pPr>
            <a:r>
              <a:rPr lang="en-US" b="true" sz="4478" spc="-152">
                <a:solidFill>
                  <a:srgbClr val="000000"/>
                </a:solidFill>
                <a:latin typeface="Anonymous Pro Bold"/>
                <a:ea typeface="Anonymous Pro Bold"/>
                <a:cs typeface="Anonymous Pro Bold"/>
                <a:sym typeface="Anonymous Pro Bold"/>
              </a:rPr>
              <a:t> DESIGN PATTERN IMPLEMENTATION</a:t>
            </a:r>
          </a:p>
        </p:txBody>
      </p:sp>
      <p:sp>
        <p:nvSpPr>
          <p:cNvPr name="Freeform 27" id="27"/>
          <p:cNvSpPr/>
          <p:nvPr/>
        </p:nvSpPr>
        <p:spPr>
          <a:xfrm flipH="false" flipV="false" rot="0">
            <a:off x="1028700" y="2793351"/>
            <a:ext cx="1019520" cy="989861"/>
          </a:xfrm>
          <a:custGeom>
            <a:avLst/>
            <a:gdLst/>
            <a:ahLst/>
            <a:cxnLst/>
            <a:rect r="r" b="b" t="t" l="l"/>
            <a:pathLst>
              <a:path h="989861" w="1019520">
                <a:moveTo>
                  <a:pt x="0" y="0"/>
                </a:moveTo>
                <a:lnTo>
                  <a:pt x="1019520" y="0"/>
                </a:lnTo>
                <a:lnTo>
                  <a:pt x="1019520" y="989861"/>
                </a:lnTo>
                <a:lnTo>
                  <a:pt x="0" y="9898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8" id="28"/>
          <p:cNvSpPr/>
          <p:nvPr/>
        </p:nvSpPr>
        <p:spPr>
          <a:xfrm flipH="false" flipV="false" rot="0">
            <a:off x="1446392" y="6515013"/>
            <a:ext cx="4759816" cy="891384"/>
          </a:xfrm>
          <a:custGeom>
            <a:avLst/>
            <a:gdLst/>
            <a:ahLst/>
            <a:cxnLst/>
            <a:rect r="r" b="b" t="t" l="l"/>
            <a:pathLst>
              <a:path h="891384" w="4759816">
                <a:moveTo>
                  <a:pt x="0" y="0"/>
                </a:moveTo>
                <a:lnTo>
                  <a:pt x="4759816" y="0"/>
                </a:lnTo>
                <a:lnTo>
                  <a:pt x="4759816" y="891384"/>
                </a:lnTo>
                <a:lnTo>
                  <a:pt x="0" y="8913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9" id="29"/>
          <p:cNvSpPr txBox="true"/>
          <p:nvPr/>
        </p:nvSpPr>
        <p:spPr>
          <a:xfrm rot="0">
            <a:off x="584087" y="644177"/>
            <a:ext cx="9974378"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3" id="33"/>
          <p:cNvSpPr txBox="true"/>
          <p:nvPr/>
        </p:nvSpPr>
        <p:spPr>
          <a:xfrm rot="0">
            <a:off x="6635766" y="3112938"/>
            <a:ext cx="11067262" cy="4551680"/>
          </a:xfrm>
          <a:prstGeom prst="rect">
            <a:avLst/>
          </a:prstGeom>
        </p:spPr>
        <p:txBody>
          <a:bodyPr anchor="t" rtlCol="false" tIns="0" lIns="0" bIns="0" rIns="0">
            <a:spAutoFit/>
          </a:bodyPr>
          <a:lstStyle/>
          <a:p>
            <a:pPr algn="l">
              <a:lnSpc>
                <a:spcPts val="4000"/>
              </a:lnSpc>
            </a:pPr>
            <a:r>
              <a:rPr lang="en-US" sz="3200">
                <a:solidFill>
                  <a:srgbClr val="000000"/>
                </a:solidFill>
                <a:latin typeface="Cousine"/>
                <a:ea typeface="Cousine"/>
                <a:cs typeface="Cousine"/>
                <a:sym typeface="Cousine"/>
              </a:rPr>
              <a:t>The Strategy Pattern allows flexible hazard handling strategies:</a:t>
            </a:r>
          </a:p>
          <a:p>
            <a:pPr algn="l">
              <a:lnSpc>
                <a:spcPts val="4000"/>
              </a:lnSpc>
            </a:pPr>
            <a:r>
              <a:rPr lang="en-US" sz="3200">
                <a:solidFill>
                  <a:srgbClr val="000000"/>
                </a:solidFill>
                <a:latin typeface="Cousine"/>
                <a:ea typeface="Cousine"/>
                <a:cs typeface="Cousine"/>
                <a:sym typeface="Cousine"/>
              </a:rPr>
              <a:t>- StallStrategy: always stalls when a hazard is detected.</a:t>
            </a:r>
          </a:p>
          <a:p>
            <a:pPr algn="l">
              <a:lnSpc>
                <a:spcPts val="4000"/>
              </a:lnSpc>
            </a:pPr>
            <a:r>
              <a:rPr lang="en-US" sz="3200">
                <a:solidFill>
                  <a:srgbClr val="000000"/>
                </a:solidFill>
                <a:latin typeface="Cousine"/>
                <a:ea typeface="Cousine"/>
                <a:cs typeface="Cousine"/>
                <a:sym typeface="Cousine"/>
              </a:rPr>
              <a:t>- ForwardingStrategy: forwards data when possible, reducing stalls. </a:t>
            </a:r>
          </a:p>
          <a:p>
            <a:pPr algn="l">
              <a:lnSpc>
                <a:spcPts val="4000"/>
              </a:lnSpc>
            </a:pPr>
            <a:r>
              <a:rPr lang="en-US" sz="3200">
                <a:solidFill>
                  <a:srgbClr val="000000"/>
                </a:solidFill>
                <a:latin typeface="Cousine"/>
                <a:ea typeface="Cousine"/>
                <a:cs typeface="Cousine"/>
                <a:sym typeface="Cousine"/>
              </a:rPr>
              <a:t>This design makes it easy to extend the pipeline with additional strategies in the future.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5886058" y="9193555"/>
            <a:ext cx="1271608" cy="652980"/>
            <a:chOff x="0" y="0"/>
            <a:chExt cx="334909" cy="171978"/>
          </a:xfrm>
        </p:grpSpPr>
        <p:sp>
          <p:nvSpPr>
            <p:cNvPr name="Freeform 15" id="1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16" id="1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408934"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123917" y="9193555"/>
            <a:ext cx="755149" cy="652980"/>
            <a:chOff x="0" y="0"/>
            <a:chExt cx="198887" cy="171978"/>
          </a:xfrm>
        </p:grpSpPr>
        <p:sp>
          <p:nvSpPr>
            <p:cNvPr name="Freeform 21" id="2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22" id="2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3884679" y="3627641"/>
            <a:ext cx="10211437" cy="1792486"/>
          </a:xfrm>
          <a:prstGeom prst="rect">
            <a:avLst/>
          </a:prstGeom>
        </p:spPr>
        <p:txBody>
          <a:bodyPr anchor="t" rtlCol="false" tIns="0" lIns="0" bIns="0" rIns="0">
            <a:spAutoFit/>
          </a:bodyPr>
          <a:lstStyle/>
          <a:p>
            <a:pPr algn="ctr">
              <a:lnSpc>
                <a:spcPts val="13499"/>
              </a:lnSpc>
            </a:pPr>
            <a:r>
              <a:rPr lang="en-US" b="true" sz="13499" spc="-458">
                <a:solidFill>
                  <a:srgbClr val="0057CC"/>
                </a:solidFill>
                <a:latin typeface="Anonymous Pro Bold"/>
                <a:ea typeface="Anonymous Pro Bold"/>
                <a:cs typeface="Anonymous Pro Bold"/>
                <a:sym typeface="Anonymous Pro Bold"/>
              </a:rPr>
              <a:t>CONCLUSION</a:t>
            </a:r>
          </a:p>
        </p:txBody>
      </p:sp>
      <p:sp>
        <p:nvSpPr>
          <p:cNvPr name="TextBox 26" id="26"/>
          <p:cNvSpPr txBox="true"/>
          <p:nvPr/>
        </p:nvSpPr>
        <p:spPr>
          <a:xfrm rot="0">
            <a:off x="584087" y="644177"/>
            <a:ext cx="10432801"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 </a:t>
            </a:r>
            <a:r>
              <a:rPr lang="en-US" sz="3187" b="true">
                <a:solidFill>
                  <a:srgbClr val="CACACA"/>
                </a:solidFill>
                <a:latin typeface="Cousine Bold"/>
                <a:ea typeface="Cousine Bold"/>
                <a:cs typeface="Cousine Bold"/>
                <a:sym typeface="Cousine Bold"/>
              </a:rPr>
              <a:t>Instruction pipelining simultion </a:t>
            </a:r>
          </a:p>
        </p:txBody>
      </p:sp>
      <p:sp>
        <p:nvSpPr>
          <p:cNvPr name="TextBox 27" id="27"/>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8" id="28"/>
          <p:cNvSpPr txBox="true"/>
          <p:nvPr/>
        </p:nvSpPr>
        <p:spPr>
          <a:xfrm rot="0">
            <a:off x="2544931"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name="TextBox 29" id="29"/>
          <p:cNvSpPr txBox="true"/>
          <p:nvPr/>
        </p:nvSpPr>
        <p:spPr>
          <a:xfrm rot="0">
            <a:off x="5155770"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Contact</a:t>
            </a:r>
          </a:p>
        </p:txBody>
      </p:sp>
      <p:sp>
        <p:nvSpPr>
          <p:cNvPr name="TextBox 30" id="30"/>
          <p:cNvSpPr txBox="true"/>
          <p:nvPr/>
        </p:nvSpPr>
        <p:spPr>
          <a:xfrm rot="0">
            <a:off x="4155693" y="5462876"/>
            <a:ext cx="9669410" cy="2005654"/>
          </a:xfrm>
          <a:prstGeom prst="rect">
            <a:avLst/>
          </a:prstGeom>
        </p:spPr>
        <p:txBody>
          <a:bodyPr anchor="t" rtlCol="false" tIns="0" lIns="0" bIns="0" rIns="0">
            <a:spAutoFit/>
          </a:bodyPr>
          <a:lstStyle/>
          <a:p>
            <a:pPr algn="just">
              <a:lnSpc>
                <a:spcPts val="2686"/>
              </a:lnSpc>
            </a:pPr>
            <a:r>
              <a:rPr lang="en-US" sz="2148">
                <a:solidFill>
                  <a:srgbClr val="000000"/>
                </a:solidFill>
                <a:latin typeface="Cousine"/>
                <a:ea typeface="Cousine"/>
                <a:cs typeface="Cousine"/>
                <a:sym typeface="Cousine"/>
              </a:rPr>
              <a:t>Instruction pipelining improves CPU throughput by overlapping execution stages. Hazards can reduce performance but can be mitigated through techniques such as forwarding and effective hazard detection. This simulation demonstrates how pipeline design choices affect execution time, stalls, and overall performance.</a:t>
            </a:r>
          </a:p>
        </p:txBody>
      </p:sp>
      <p:sp>
        <p:nvSpPr>
          <p:cNvPr name="Freeform 31" id="31"/>
          <p:cNvSpPr/>
          <p:nvPr/>
        </p:nvSpPr>
        <p:spPr>
          <a:xfrm flipH="false" flipV="false" rot="0">
            <a:off x="12917337" y="7546055"/>
            <a:ext cx="523211" cy="890917"/>
          </a:xfrm>
          <a:custGeom>
            <a:avLst/>
            <a:gdLst/>
            <a:ahLst/>
            <a:cxnLst/>
            <a:rect r="r" b="b" t="t" l="l"/>
            <a:pathLst>
              <a:path h="890917" w="523211">
                <a:moveTo>
                  <a:pt x="0" y="0"/>
                </a:moveTo>
                <a:lnTo>
                  <a:pt x="523211" y="0"/>
                </a:lnTo>
                <a:lnTo>
                  <a:pt x="523211" y="890917"/>
                </a:lnTo>
                <a:lnTo>
                  <a:pt x="0" y="890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DAG1ynrfwoE</dc:identifier>
  <dcterms:modified xsi:type="dcterms:W3CDTF">2011-08-01T06:04:30Z</dcterms:modified>
  <cp:revision>1</cp:revision>
  <dc:title>Grey Blue Pixel Tech Computer Presentation</dc:title>
</cp:coreProperties>
</file>